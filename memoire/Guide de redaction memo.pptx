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969" autoAdjust="0"/>
    <p:restoredTop sz="94660"/>
  </p:normalViewPr>
  <p:slideViewPr>
    <p:cSldViewPr snapToGrid="0">
      <p:cViewPr varScale="1">
        <p:scale>
          <a:sx n="50" d="100"/>
          <a:sy n="50" d="100"/>
        </p:scale>
        <p:origin x="-564" y="-1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3848466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16215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3446097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1033596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656860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7" name="Date Placeholder 2"/>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3"/>
          <p:cNvSpPr>
            <a:spLocks noGrp="1"/>
          </p:cNvSpPr>
          <p:nvPr>
            <p:ph type="ftr" sz="quarter" idx="11"/>
          </p:nvPr>
        </p:nvSpPr>
        <p:spPr/>
        <p:txBody>
          <a:bodyPr/>
          <a:lstStyle/>
          <a:p>
            <a:endParaRPr lang="fr-FR"/>
          </a:p>
        </p:txBody>
      </p:sp>
      <p:sp>
        <p:nvSpPr>
          <p:cNvPr id="6" name="Slide Number Placeholder 4"/>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82865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2"/>
          <p:cNvSpPr>
            <a:spLocks noGrp="1"/>
          </p:cNvSpPr>
          <p:nvPr>
            <p:ph type="ftr" sz="quarter" idx="11"/>
          </p:nvPr>
        </p:nvSpPr>
        <p:spPr/>
        <p:txBody>
          <a:bodyPr/>
          <a:lstStyle/>
          <a:p>
            <a:endParaRPr lang="fr-FR"/>
          </a:p>
        </p:txBody>
      </p:sp>
      <p:sp>
        <p:nvSpPr>
          <p:cNvPr id="6" name="Slide Number Placeholder 3"/>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427996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7" name="Date Placeholder 4"/>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5"/>
          <p:cNvSpPr>
            <a:spLocks noGrp="1"/>
          </p:cNvSpPr>
          <p:nvPr>
            <p:ph type="ftr" sz="quarter" idx="11"/>
          </p:nvPr>
        </p:nvSpPr>
        <p:spPr/>
        <p:txBody>
          <a:bodyPr/>
          <a:lstStyle/>
          <a:p>
            <a:endParaRPr lang="fr-FR"/>
          </a:p>
        </p:txBody>
      </p:sp>
      <p:sp>
        <p:nvSpPr>
          <p:cNvPr id="6" name="Slide Number Placeholder 6"/>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353466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585181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395496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fr-FR"/>
              <a:t>Modifiez le style du titre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1002480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fr-FR"/>
              <a:t>Modifiez le style du titre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fr-FR"/>
              <a:t>Modifier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xmlns="" val="3494391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773224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4"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128159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4"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198896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1401309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D02ECE0-E35C-4A87-8E4E-D945F46B6E5C}" type="datetimeFigureOut">
              <a:rPr lang="fr-FR" smtClean="0"/>
              <a:pPr/>
              <a:t>22/12/2016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1023663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xmlns=""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xmlns=""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xmlns=""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xmlns=""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fr-FR"/>
              <a:t>Modifiez le style du titre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D02ECE0-E35C-4A87-8E4E-D945F46B6E5C}" type="datetimeFigureOut">
              <a:rPr lang="fr-FR" smtClean="0"/>
              <a:pPr/>
              <a:t>22/12/2016</a:t>
            </a:fld>
            <a:endParaRPr lang="fr-F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fr-F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785315-C3E5-497E-AB42-E30D04A75783}" type="slidenum">
              <a:rPr lang="fr-FR" smtClean="0"/>
              <a:pPr/>
              <a:t>‹N°›</a:t>
            </a:fld>
            <a:endParaRPr lang="fr-FR"/>
          </a:p>
        </p:txBody>
      </p:sp>
    </p:spTree>
    <p:extLst>
      <p:ext uri="{BB962C8B-B14F-4D97-AF65-F5344CB8AC3E}">
        <p14:creationId xmlns:p14="http://schemas.microsoft.com/office/powerpoint/2010/main" xmlns="" val="2402906638"/>
      </p:ext>
    </p:extLst>
  </p:cSld>
  <p:clrMap bg1="dk1" tx1="lt1" bg2="dk2" tx2="lt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www.revues.or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20800" y="1137920"/>
            <a:ext cx="9956800" cy="3637280"/>
          </a:xfrm>
        </p:spPr>
        <p:txBody>
          <a:bodyPr>
            <a:normAutofit fontScale="90000"/>
          </a:bodyPr>
          <a:lstStyle/>
          <a:p>
            <a:r>
              <a:rPr lang="fr-FR" b="1" dirty="0"/>
              <a:t> Guide de rédaction et de présentation d’un document académique</a:t>
            </a:r>
            <a:endParaRPr lang="fr-FR" dirty="0"/>
          </a:p>
        </p:txBody>
      </p:sp>
    </p:spTree>
    <p:extLst>
      <p:ext uri="{BB962C8B-B14F-4D97-AF65-F5344CB8AC3E}">
        <p14:creationId xmlns:p14="http://schemas.microsoft.com/office/powerpoint/2010/main" xmlns="" val="3086529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36419" y="0"/>
            <a:ext cx="10515600" cy="1325563"/>
          </a:xfrm>
        </p:spPr>
        <p:txBody>
          <a:bodyPr/>
          <a:lstStyle/>
          <a:p>
            <a:r>
              <a:rPr lang="fr-FR" b="1" dirty="0"/>
              <a:t> SOMMAIRE</a:t>
            </a:r>
            <a:endParaRPr lang="fr-FR" dirty="0"/>
          </a:p>
        </p:txBody>
      </p:sp>
      <p:sp>
        <p:nvSpPr>
          <p:cNvPr id="3" name="Espace réservé du contenu 2"/>
          <p:cNvSpPr>
            <a:spLocks noGrp="1"/>
          </p:cNvSpPr>
          <p:nvPr>
            <p:ph idx="1"/>
          </p:nvPr>
        </p:nvSpPr>
        <p:spPr>
          <a:xfrm>
            <a:off x="436419" y="1080655"/>
            <a:ext cx="10515600" cy="5611090"/>
          </a:xfrm>
        </p:spPr>
        <p:txBody>
          <a:bodyPr>
            <a:normAutofit lnSpcReduction="10000"/>
          </a:bodyPr>
          <a:lstStyle/>
          <a:p>
            <a:r>
              <a:rPr lang="fr-FR" sz="2200" b="1" dirty="0"/>
              <a:t>Introduction </a:t>
            </a:r>
            <a:endParaRPr lang="fr-FR" sz="2200" dirty="0"/>
          </a:p>
          <a:p>
            <a:r>
              <a:rPr lang="fr-FR" sz="2200" b="1" dirty="0"/>
              <a:t>Première partie : la définition du mémoire, le choix d’un directeur de recherche, d’un sujet et d’un plan</a:t>
            </a:r>
            <a:endParaRPr lang="fr-FR" sz="2200" dirty="0"/>
          </a:p>
          <a:p>
            <a:r>
              <a:rPr lang="fr-FR" sz="2200" b="1" dirty="0"/>
              <a:t>Chapitre 1 : la définition du mémoire et le choix d’un directeur de recherche</a:t>
            </a:r>
            <a:r>
              <a:rPr lang="fr-FR" sz="2200" b="1" u="sng" dirty="0"/>
              <a:t> </a:t>
            </a:r>
            <a:endParaRPr lang="fr-FR" sz="2200" dirty="0"/>
          </a:p>
          <a:p>
            <a:r>
              <a:rPr lang="fr-FR" sz="2200" b="1" dirty="0"/>
              <a:t>Chapitre 2 : le choix d’un sujet et d’un plan</a:t>
            </a:r>
            <a:endParaRPr lang="fr-FR" sz="2200" dirty="0"/>
          </a:p>
          <a:p>
            <a:r>
              <a:rPr lang="fr-FR" sz="2200" b="1" dirty="0"/>
              <a:t>Deuxième partie : la stratégie de recherche et les outils d’élaboration du mémoire</a:t>
            </a:r>
            <a:endParaRPr lang="fr-FR" sz="2200" dirty="0"/>
          </a:p>
          <a:p>
            <a:r>
              <a:rPr lang="fr-FR" sz="2200" b="1" dirty="0"/>
              <a:t>Chapitre 3 : la stratégie de recherche</a:t>
            </a:r>
            <a:r>
              <a:rPr lang="fr-FR" sz="2200" dirty="0"/>
              <a:t> </a:t>
            </a:r>
          </a:p>
          <a:p>
            <a:r>
              <a:rPr lang="fr-FR" sz="2200" b="1" dirty="0"/>
              <a:t>Chapitre 4 : les outils d’élaboration du mémoire</a:t>
            </a:r>
            <a:endParaRPr lang="fr-FR" sz="2200" dirty="0"/>
          </a:p>
          <a:p>
            <a:r>
              <a:rPr lang="fr-FR" sz="2200" b="1" dirty="0"/>
              <a:t>Troisième partie : la présentation et la soutenance du mémoire  </a:t>
            </a:r>
            <a:endParaRPr lang="fr-FR" sz="2200" dirty="0"/>
          </a:p>
          <a:p>
            <a:r>
              <a:rPr lang="fr-FR" sz="2200" b="1" dirty="0"/>
              <a:t>Chapitre 5 : la présentation du mémoire</a:t>
            </a:r>
            <a:endParaRPr lang="fr-FR" sz="2200" dirty="0"/>
          </a:p>
          <a:p>
            <a:r>
              <a:rPr lang="fr-FR" sz="2200" b="1" dirty="0"/>
              <a:t>Chapitre 6 : la soutenance du mémoire </a:t>
            </a:r>
            <a:endParaRPr lang="fr-FR" sz="2200" dirty="0"/>
          </a:p>
          <a:p>
            <a:r>
              <a:rPr lang="fr-FR" sz="2200" b="1" dirty="0"/>
              <a:t>Conclusion </a:t>
            </a:r>
            <a:endParaRPr lang="fr-FR" sz="2200" dirty="0"/>
          </a:p>
          <a:p>
            <a:endParaRPr lang="fr-FR" dirty="0"/>
          </a:p>
        </p:txBody>
      </p:sp>
    </p:spTree>
    <p:extLst>
      <p:ext uri="{BB962C8B-B14F-4D97-AF65-F5344CB8AC3E}">
        <p14:creationId xmlns:p14="http://schemas.microsoft.com/office/powerpoint/2010/main" xmlns="" val="3257554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1172730"/>
          </a:xfrm>
        </p:spPr>
        <p:txBody>
          <a:bodyPr>
            <a:normAutofit fontScale="90000"/>
          </a:bodyPr>
          <a:lstStyle/>
          <a:p>
            <a:r>
              <a:rPr lang="fr-FR" b="1" dirty="0"/>
              <a:t>Introduction</a:t>
            </a:r>
            <a:r>
              <a:rPr lang="fr-FR" dirty="0"/>
              <a:t/>
            </a:r>
            <a:br>
              <a:rPr lang="fr-FR" dirty="0"/>
            </a:br>
            <a:endParaRPr lang="fr-FR" dirty="0"/>
          </a:p>
        </p:txBody>
      </p:sp>
      <p:sp>
        <p:nvSpPr>
          <p:cNvPr id="3" name="Espace réservé du contenu 2"/>
          <p:cNvSpPr>
            <a:spLocks noGrp="1"/>
          </p:cNvSpPr>
          <p:nvPr>
            <p:ph idx="1"/>
          </p:nvPr>
        </p:nvSpPr>
        <p:spPr>
          <a:xfrm>
            <a:off x="838200" y="1011381"/>
            <a:ext cx="10515600" cy="5401776"/>
          </a:xfrm>
        </p:spPr>
        <p:txBody>
          <a:bodyPr>
            <a:normAutofit fontScale="92500" lnSpcReduction="10000"/>
          </a:bodyPr>
          <a:lstStyle/>
          <a:p>
            <a:r>
              <a:rPr lang="fr-FR" dirty="0"/>
              <a:t>Une recherche vise à faire progresser les connaissances humaines dans un domaine déterminé. Elle est conçue comme un apport, une contribution à la production des connaissances et  le chercheur part du stock de connaissances disponibles au moment où il entame sa recherche. Préparer un mémoire, c'est-à-dire formuler et résoudre un problème scientifique, est une tache de longue haleine.</a:t>
            </a:r>
          </a:p>
          <a:p>
            <a:r>
              <a:rPr lang="fr-FR" dirty="0"/>
              <a:t>  Pour y arriver, il convient de recourir à des méthodes de recherches rationnelles et de les présenter selon des normes conventionnelles ayant de préférence un caractère national ou international. Toute recherche commence par le choix d’un directeur de recherche se poursuit par la définition du sujet et de la stratégie de recherche, culmine dans l’élaboration et la rédaction du produit final avant de s’achever dans sa présentation et sa soutenance.</a:t>
            </a:r>
          </a:p>
          <a:p>
            <a:r>
              <a:rPr lang="fr-FR" dirty="0"/>
              <a:t>   L’objectif de ce guide est de contribuer à améliorer la qualité des recherches et des publications scientifiques de nos étudiants et de répondre concrètement aux besoins, aux préoccupations et aux problèmes pratiques du chercheur. Dans notre démarche, nous proposons dans une première partie la définition du mémoire, le choix d’un Directeur de recherche, d’un sujet et d’un plan, dans la deuxième partie, nous aborderons la stratégie de recherche et les outils d’élaboration du mémoire et enfin dans la troisième partie, nous parlerons de la soutenance. </a:t>
            </a:r>
          </a:p>
          <a:p>
            <a:endParaRPr lang="fr-FR" dirty="0"/>
          </a:p>
        </p:txBody>
      </p:sp>
    </p:spTree>
    <p:extLst>
      <p:ext uri="{BB962C8B-B14F-4D97-AF65-F5344CB8AC3E}">
        <p14:creationId xmlns:p14="http://schemas.microsoft.com/office/powerpoint/2010/main" xmlns="" val="3640114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45130" y="193226"/>
            <a:ext cx="9404723" cy="1166017"/>
          </a:xfrm>
        </p:spPr>
        <p:txBody>
          <a:bodyPr>
            <a:normAutofit fontScale="90000"/>
          </a:bodyPr>
          <a:lstStyle/>
          <a:p>
            <a:r>
              <a:rPr lang="fr-FR" sz="2800" b="1" dirty="0"/>
              <a:t>Première partie : la définition du mémoire, le choix d’un directeur de recherche, d’un sujet et d’un plan</a:t>
            </a:r>
            <a:r>
              <a:rPr lang="fr-FR" sz="2800" dirty="0"/>
              <a:t/>
            </a:r>
            <a:br>
              <a:rPr lang="fr-FR" sz="2800" dirty="0"/>
            </a:br>
            <a:endParaRPr lang="fr-FR" sz="2800" dirty="0"/>
          </a:p>
        </p:txBody>
      </p:sp>
      <p:sp>
        <p:nvSpPr>
          <p:cNvPr id="3" name="Espace réservé du contenu 2"/>
          <p:cNvSpPr>
            <a:spLocks noGrp="1"/>
          </p:cNvSpPr>
          <p:nvPr>
            <p:ph idx="1"/>
          </p:nvPr>
        </p:nvSpPr>
        <p:spPr>
          <a:xfrm>
            <a:off x="531340" y="1359243"/>
            <a:ext cx="11009871" cy="5214551"/>
          </a:xfrm>
        </p:spPr>
        <p:txBody>
          <a:bodyPr>
            <a:normAutofit/>
          </a:bodyPr>
          <a:lstStyle/>
          <a:p>
            <a:pPr>
              <a:buFont typeface="Wingdings" panose="05000000000000000000" pitchFamily="2" charset="2"/>
              <a:buChar char="v"/>
            </a:pPr>
            <a:r>
              <a:rPr lang="fr-FR" sz="2400" b="1" dirty="0"/>
              <a:t>Définition</a:t>
            </a:r>
            <a:endParaRPr lang="fr-FR" sz="2400" dirty="0"/>
          </a:p>
          <a:p>
            <a:pPr lvl="1" algn="just"/>
            <a:r>
              <a:rPr lang="fr-FR" sz="2000" dirty="0"/>
              <a:t>Un travail académique est une activité de recherche ou d’enquête menée dans une faculté, un organisme de recherche, une institution scientifique, ou un établissement de formation professionnelle et qui entre dans la composition d’un diplôme. Les thèses, les mémoires, les rapports technique et scientifique, les comptes rendus de recherche constituent les principaux genres du travail académique. </a:t>
            </a:r>
          </a:p>
          <a:p>
            <a:pPr lvl="1" algn="just"/>
            <a:r>
              <a:rPr lang="fr-FR" sz="2000" dirty="0"/>
              <a:t>Un TAU doit recourir à deux règles impératives de la  pensée rationnelle que sont :</a:t>
            </a:r>
          </a:p>
          <a:p>
            <a:pPr lvl="1" algn="just"/>
            <a:r>
              <a:rPr lang="fr-FR" sz="2000" dirty="0"/>
              <a:t>La déduction, opération de nature intellectuelle par laquelle, on conclut de certaines prémisses à une ou des propositions qui en sont logiquement dépendantes ;</a:t>
            </a:r>
          </a:p>
          <a:p>
            <a:pPr lvl="1" algn="just"/>
            <a:r>
              <a:rPr lang="fr-FR" sz="2000" dirty="0"/>
              <a:t>L’induction, opération de nature intellectuelle par laquelle on tire une ou des règles générales en partant de l’observation ou de l’analyse d’une ou de plusieurs séries de faits</a:t>
            </a:r>
          </a:p>
          <a:p>
            <a:endParaRPr lang="fr-FR" dirty="0"/>
          </a:p>
        </p:txBody>
      </p:sp>
    </p:spTree>
    <p:extLst>
      <p:ext uri="{BB962C8B-B14F-4D97-AF65-F5344CB8AC3E}">
        <p14:creationId xmlns:p14="http://schemas.microsoft.com/office/powerpoint/2010/main" xmlns="" val="4091915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t>Chapitre 1: Le choix d’un directeur de recherche </a:t>
            </a:r>
            <a:r>
              <a:rPr lang="fr-FR" dirty="0"/>
              <a:t/>
            </a:r>
            <a:br>
              <a:rPr lang="fr-FR" dirty="0"/>
            </a:br>
            <a:endParaRPr lang="fr-FR" dirty="0"/>
          </a:p>
        </p:txBody>
      </p:sp>
      <p:sp>
        <p:nvSpPr>
          <p:cNvPr id="3" name="Espace réservé du contenu 2"/>
          <p:cNvSpPr>
            <a:spLocks noGrp="1"/>
          </p:cNvSpPr>
          <p:nvPr>
            <p:ph idx="1"/>
          </p:nvPr>
        </p:nvSpPr>
        <p:spPr>
          <a:xfrm>
            <a:off x="967387" y="1978778"/>
            <a:ext cx="8946541" cy="4409666"/>
          </a:xfrm>
        </p:spPr>
        <p:txBody>
          <a:bodyPr>
            <a:normAutofit/>
          </a:bodyPr>
          <a:lstStyle/>
          <a:p>
            <a:r>
              <a:rPr lang="fr-FR" dirty="0"/>
              <a:t>La direction de recherche met en rapport, pour un temps (une ou plusieurs années) deux personnalités qui peuvent être fort différentes. Il appartient pour l’essentiel au jeune chercheur de s’adapter au tempérament et aux méthodes de travail de son directeur de recherche. Celui-ci à son tour selon son expérience, son expertise pédagogique et ses capacités humaines devra savoir stimuler, orienter et guider son étudiant.</a:t>
            </a:r>
          </a:p>
          <a:p>
            <a:r>
              <a:rPr lang="fr-FR" dirty="0"/>
              <a:t> Dans tous les cas, il faut savoir faire la différence entre ce que l’on peut normalement et raisonnablement attendre de lui. Le jeune chercheur peut attendre du directeur de recherche </a:t>
            </a:r>
            <a:r>
              <a:rPr lang="fr-FR" b="1" dirty="0"/>
              <a:t>un appui scientifique, une attente pédagogique et une attente psychologique et morale.</a:t>
            </a:r>
          </a:p>
          <a:p>
            <a:pPr marL="0" indent="0">
              <a:buNone/>
            </a:pPr>
            <a:endParaRPr lang="fr-FR" dirty="0"/>
          </a:p>
        </p:txBody>
      </p:sp>
    </p:spTree>
    <p:extLst>
      <p:ext uri="{BB962C8B-B14F-4D97-AF65-F5344CB8AC3E}">
        <p14:creationId xmlns:p14="http://schemas.microsoft.com/office/powerpoint/2010/main" xmlns="" val="3046751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1: Le choix d’un directeur de recherche</a:t>
            </a:r>
            <a:endParaRPr lang="fr-FR" dirty="0"/>
          </a:p>
        </p:txBody>
      </p:sp>
      <p:sp>
        <p:nvSpPr>
          <p:cNvPr id="3" name="Espace réservé du contenu 2"/>
          <p:cNvSpPr>
            <a:spLocks noGrp="1"/>
          </p:cNvSpPr>
          <p:nvPr>
            <p:ph idx="1"/>
          </p:nvPr>
        </p:nvSpPr>
        <p:spPr/>
        <p:txBody>
          <a:bodyPr/>
          <a:lstStyle/>
          <a:p>
            <a:r>
              <a:rPr lang="fr-FR" sz="2400" b="1" dirty="0"/>
              <a:t>Un appui scientifique </a:t>
            </a:r>
          </a:p>
          <a:p>
            <a:pPr lvl="1">
              <a:buFont typeface="Wingdings" panose="05000000000000000000" pitchFamily="2" charset="2"/>
              <a:buChar char="§"/>
            </a:pPr>
            <a:r>
              <a:rPr lang="fr-FR" sz="2200" dirty="0"/>
              <a:t> La première et principale fonction du DR est d’être la caution ou le garant scientifique de votre travail. Il devra donc en premier lieu  vérifier la validité et la pertinence scientifique du sujet que vous proposez. Il pourra aussi vous demander de choisir un nouveau sujet sur une autre liste préétablie.</a:t>
            </a:r>
          </a:p>
          <a:p>
            <a:pPr marL="0" indent="0">
              <a:buNone/>
            </a:pPr>
            <a:endParaRPr lang="fr-FR" dirty="0"/>
          </a:p>
        </p:txBody>
      </p:sp>
    </p:spTree>
    <p:extLst>
      <p:ext uri="{BB962C8B-B14F-4D97-AF65-F5344CB8AC3E}">
        <p14:creationId xmlns:p14="http://schemas.microsoft.com/office/powerpoint/2010/main" xmlns="" val="1660073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1: Le choix d’un directeur de recherche</a:t>
            </a:r>
            <a:endParaRPr lang="fr-FR" dirty="0"/>
          </a:p>
        </p:txBody>
      </p:sp>
      <p:sp>
        <p:nvSpPr>
          <p:cNvPr id="3" name="Espace réservé du contenu 2"/>
          <p:cNvSpPr>
            <a:spLocks noGrp="1"/>
          </p:cNvSpPr>
          <p:nvPr>
            <p:ph idx="1"/>
          </p:nvPr>
        </p:nvSpPr>
        <p:spPr>
          <a:xfrm>
            <a:off x="1103312" y="2052918"/>
            <a:ext cx="10079553" cy="4384952"/>
          </a:xfrm>
        </p:spPr>
        <p:txBody>
          <a:bodyPr/>
          <a:lstStyle/>
          <a:p>
            <a:pPr lvl="0"/>
            <a:r>
              <a:rPr lang="fr-FR" sz="2400" b="1" dirty="0"/>
              <a:t>Une attente pédagogique</a:t>
            </a:r>
            <a:endParaRPr lang="fr-FR" sz="2400" dirty="0"/>
          </a:p>
          <a:p>
            <a:pPr lvl="1">
              <a:buFont typeface="Arial" panose="020B0604020202020204" pitchFamily="34" charset="0"/>
              <a:buChar char="•"/>
            </a:pPr>
            <a:r>
              <a:rPr lang="fr-FR" sz="2200" dirty="0"/>
              <a:t> Il s’agira avant tout d’être disponible à l’égard du jeune chercheur qui aborde sans expérience une forme tout à fait nouvelle pour lui du travail académique dont les exposés lui avaient peut être donné qu’une vague idée. Il s’agira ensuite d’informer le candidat sur la nécessité d’aborder de nouvelles techniques de travail et de lui donner des conseils pratiques relatifs à des normes rationnelles. En un mot le DR ne doit pas hésiter à être le « mentor » que recherche le candidat </a:t>
            </a:r>
          </a:p>
          <a:p>
            <a:endParaRPr lang="fr-FR" dirty="0"/>
          </a:p>
        </p:txBody>
      </p:sp>
    </p:spTree>
    <p:extLst>
      <p:ext uri="{BB962C8B-B14F-4D97-AF65-F5344CB8AC3E}">
        <p14:creationId xmlns:p14="http://schemas.microsoft.com/office/powerpoint/2010/main" xmlns="" val="943624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1: Le choix d’un directeur de recherche</a:t>
            </a:r>
            <a:endParaRPr lang="fr-FR" dirty="0"/>
          </a:p>
        </p:txBody>
      </p:sp>
      <p:sp>
        <p:nvSpPr>
          <p:cNvPr id="3" name="Espace réservé du contenu 2"/>
          <p:cNvSpPr>
            <a:spLocks noGrp="1"/>
          </p:cNvSpPr>
          <p:nvPr>
            <p:ph idx="1"/>
          </p:nvPr>
        </p:nvSpPr>
        <p:spPr/>
        <p:txBody>
          <a:bodyPr/>
          <a:lstStyle/>
          <a:p>
            <a:pPr lvl="0"/>
            <a:r>
              <a:rPr lang="fr-FR" sz="2400" b="1" dirty="0"/>
              <a:t>Une attente psychologique et morale </a:t>
            </a:r>
            <a:endParaRPr lang="fr-FR" sz="2400" dirty="0"/>
          </a:p>
          <a:p>
            <a:pPr lvl="1">
              <a:buFont typeface="Wingdings" panose="05000000000000000000" pitchFamily="2" charset="2"/>
              <a:buChar char="§"/>
            </a:pPr>
            <a:r>
              <a:rPr lang="fr-FR" sz="2200" dirty="0"/>
              <a:t>Le candidat attend d’être rassuré sur sa capacité à conduire à terme une manière nouvelle de travail, sur ses aptitudes à mener une recherche. Il a besoin d’être raffermi, encouragé  devant les difficultés qui surgissent à chacune des étapes de sa recherche. Le jeune chercheur doit être mis en confiance, c’est-à-dire qu’il doit être aidé pour trouver en lui-même des forces nécessaires pour bien mener son travail.</a:t>
            </a:r>
          </a:p>
          <a:p>
            <a:endParaRPr lang="fr-FR" dirty="0"/>
          </a:p>
        </p:txBody>
      </p:sp>
    </p:spTree>
    <p:extLst>
      <p:ext uri="{BB962C8B-B14F-4D97-AF65-F5344CB8AC3E}">
        <p14:creationId xmlns:p14="http://schemas.microsoft.com/office/powerpoint/2010/main" xmlns="" val="981700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2 Le choix d’un sujet et d’un plan</a:t>
            </a:r>
            <a:endParaRPr lang="fr-FR" dirty="0"/>
          </a:p>
        </p:txBody>
      </p:sp>
      <p:sp>
        <p:nvSpPr>
          <p:cNvPr id="3" name="Espace réservé du contenu 2"/>
          <p:cNvSpPr>
            <a:spLocks noGrp="1"/>
          </p:cNvSpPr>
          <p:nvPr>
            <p:ph idx="1"/>
          </p:nvPr>
        </p:nvSpPr>
        <p:spPr>
          <a:xfrm>
            <a:off x="875201" y="1853248"/>
            <a:ext cx="8946541" cy="4547552"/>
          </a:xfrm>
        </p:spPr>
        <p:txBody>
          <a:bodyPr>
            <a:normAutofit fontScale="92500" lnSpcReduction="20000"/>
          </a:bodyPr>
          <a:lstStyle/>
          <a:p>
            <a:r>
              <a:rPr lang="fr-FR" sz="2200" dirty="0"/>
              <a:t>Le mémoire est un document écrit sur un sujet qui soulève des hypothèses, confirmées ou rejetées avec l’appui des recherches, d’une bonne documentation, d’une observation de faits et de données qui seront soumises à une analyse qui va aboutir à une conclusion. Il s’agit simplement de situer un thème de recherche dans un domaine déterminé. En lisant un sujet on doit mesurer le degré de présence de certains éléments :</a:t>
            </a:r>
          </a:p>
          <a:p>
            <a:pPr lvl="0"/>
            <a:r>
              <a:rPr lang="fr-FR" sz="2200" dirty="0"/>
              <a:t>L’intérêt scientifique ;</a:t>
            </a:r>
          </a:p>
          <a:p>
            <a:pPr lvl="0"/>
            <a:r>
              <a:rPr lang="fr-FR" sz="2200" dirty="0"/>
              <a:t>Le caractère plus ou moins formateur ;</a:t>
            </a:r>
          </a:p>
          <a:p>
            <a:pPr lvl="0"/>
            <a:r>
              <a:rPr lang="fr-FR" sz="2200" dirty="0"/>
              <a:t>La logistique de recherche (ouvrages, mémoire, site internet visitées, les revues littéraire, les articles, les statuts des entreprises, les connaissances dans le domaine et  la maitrise du sujet …).</a:t>
            </a:r>
          </a:p>
          <a:p>
            <a:r>
              <a:rPr lang="fr-FR" sz="2200" dirty="0"/>
              <a:t>Un bon sujet doit susciter un intérêt scientifique et pédagogique. Il doit poser un problème auquel vous chercheur devrait trouver une réponse.</a:t>
            </a:r>
          </a:p>
          <a:p>
            <a:endParaRPr lang="fr-FR" dirty="0"/>
          </a:p>
        </p:txBody>
      </p:sp>
    </p:spTree>
    <p:extLst>
      <p:ext uri="{BB962C8B-B14F-4D97-AF65-F5344CB8AC3E}">
        <p14:creationId xmlns:p14="http://schemas.microsoft.com/office/powerpoint/2010/main" xmlns="" val="3796198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2 Le choix d’un sujet et d’un plan</a:t>
            </a:r>
            <a:endParaRPr lang="fr-FR" dirty="0"/>
          </a:p>
        </p:txBody>
      </p:sp>
      <p:sp>
        <p:nvSpPr>
          <p:cNvPr id="3" name="Espace réservé du contenu 2"/>
          <p:cNvSpPr>
            <a:spLocks noGrp="1"/>
          </p:cNvSpPr>
          <p:nvPr>
            <p:ph idx="1"/>
          </p:nvPr>
        </p:nvSpPr>
        <p:spPr>
          <a:xfrm>
            <a:off x="769680" y="1853248"/>
            <a:ext cx="8946541" cy="4557947"/>
          </a:xfrm>
        </p:spPr>
        <p:txBody>
          <a:bodyPr>
            <a:normAutofit fontScale="92500" lnSpcReduction="10000"/>
          </a:bodyPr>
          <a:lstStyle/>
          <a:p>
            <a:r>
              <a:rPr lang="fr-FR" sz="2400" b="1" dirty="0"/>
              <a:t>L’élaboration du plan</a:t>
            </a:r>
            <a:endParaRPr lang="fr-FR" sz="2400" dirty="0"/>
          </a:p>
          <a:p>
            <a:pPr marL="0" indent="0">
              <a:buNone/>
            </a:pPr>
            <a:r>
              <a:rPr lang="fr-FR" sz="2200" dirty="0"/>
              <a:t>  Les qualités d’un bon plan sont :</a:t>
            </a:r>
          </a:p>
          <a:p>
            <a:pPr lvl="1">
              <a:buFont typeface="Wingdings" panose="05000000000000000000" pitchFamily="2" charset="2"/>
              <a:buChar char="§"/>
            </a:pPr>
            <a:r>
              <a:rPr lang="fr-FR" sz="2000" dirty="0"/>
              <a:t>La pertinence : c’est à dire que le plan doit répondre à la question soulevée par le sujet  et doit aussi s’adapter à votre réflexion ;</a:t>
            </a:r>
          </a:p>
          <a:p>
            <a:pPr lvl="1">
              <a:buFont typeface="Wingdings" panose="05000000000000000000" pitchFamily="2" charset="2"/>
              <a:buChar char="§"/>
            </a:pPr>
            <a:r>
              <a:rPr lang="fr-FR" sz="2000" dirty="0"/>
              <a:t>L’équilibre : c’est-à-dire que la dimension et le nombre des parties, chapitres et sections doit être égale ;</a:t>
            </a:r>
          </a:p>
          <a:p>
            <a:pPr lvl="1">
              <a:buFont typeface="Wingdings" panose="05000000000000000000" pitchFamily="2" charset="2"/>
              <a:buChar char="§"/>
            </a:pPr>
            <a:r>
              <a:rPr lang="fr-FR" sz="2000" dirty="0"/>
              <a:t>L’articulation : c’est l’assemblage logique de tous les éléments en un tout logique et crédible ;</a:t>
            </a:r>
          </a:p>
          <a:p>
            <a:pPr lvl="1">
              <a:buFont typeface="Wingdings" panose="05000000000000000000" pitchFamily="2" charset="2"/>
              <a:buChar char="§"/>
            </a:pPr>
            <a:r>
              <a:rPr lang="fr-FR" sz="2000" dirty="0"/>
              <a:t>Le dynamisme : c’est le fait d’avoir un plan intéressant qui dégage bien le thème de votre sujet et présente un intérêt scientifique ;</a:t>
            </a:r>
          </a:p>
          <a:p>
            <a:pPr lvl="1">
              <a:buFont typeface="Wingdings" panose="05000000000000000000" pitchFamily="2" charset="2"/>
              <a:buChar char="§"/>
            </a:pPr>
            <a:r>
              <a:rPr lang="fr-FR" sz="2000" dirty="0"/>
              <a:t>Un bon plan doit obéir au principe d’unité en parties, chapitres, sections et paragraphes. Il faut veiller à ce que les titres et sous-titres  soient harmonisés en matière de syntaxe en utilisant uniquement les formes nominale ou verbale.</a:t>
            </a:r>
          </a:p>
          <a:p>
            <a:endParaRPr lang="fr-FR" dirty="0"/>
          </a:p>
        </p:txBody>
      </p:sp>
    </p:spTree>
    <p:extLst>
      <p:ext uri="{BB962C8B-B14F-4D97-AF65-F5344CB8AC3E}">
        <p14:creationId xmlns:p14="http://schemas.microsoft.com/office/powerpoint/2010/main" xmlns="" val="3789519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2 Le choix d’un sujet et d’un plan</a:t>
            </a:r>
            <a:endParaRPr lang="fr-FR" dirty="0"/>
          </a:p>
        </p:txBody>
      </p:sp>
      <p:sp>
        <p:nvSpPr>
          <p:cNvPr id="3" name="Espace réservé du contenu 2"/>
          <p:cNvSpPr>
            <a:spLocks noGrp="1"/>
          </p:cNvSpPr>
          <p:nvPr>
            <p:ph idx="1"/>
          </p:nvPr>
        </p:nvSpPr>
        <p:spPr>
          <a:xfrm>
            <a:off x="1103312" y="2052918"/>
            <a:ext cx="8946541" cy="4496163"/>
          </a:xfrm>
        </p:spPr>
        <p:txBody>
          <a:bodyPr>
            <a:normAutofit lnSpcReduction="10000"/>
          </a:bodyPr>
          <a:lstStyle/>
          <a:p>
            <a:r>
              <a:rPr lang="fr-FR" b="1" dirty="0"/>
              <a:t>Il existe plusieurs types de plan</a:t>
            </a:r>
            <a:r>
              <a:rPr lang="fr-FR" dirty="0"/>
              <a:t> :</a:t>
            </a:r>
          </a:p>
          <a:p>
            <a:pPr lvl="1">
              <a:buFont typeface="Wingdings" panose="05000000000000000000" pitchFamily="2" charset="2"/>
              <a:buChar char="§"/>
            </a:pPr>
            <a:r>
              <a:rPr lang="fr-FR" sz="2000" dirty="0"/>
              <a:t>Dialectique : il s’agit dans un premier temps de donner des arguments favorables à la thèse puis il faut donner ceux défavorables en enfin une synthèse qui est le dépassement de la contradiction ;</a:t>
            </a:r>
          </a:p>
          <a:p>
            <a:pPr lvl="1">
              <a:buFont typeface="Wingdings" panose="05000000000000000000" pitchFamily="2" charset="2"/>
              <a:buChar char="§"/>
            </a:pPr>
            <a:r>
              <a:rPr lang="fr-FR" sz="2000" dirty="0"/>
              <a:t>Analytique : il permet l’analyse d’un problème ou d’un phénomène en présentant :</a:t>
            </a:r>
          </a:p>
          <a:p>
            <a:pPr lvl="2">
              <a:buFont typeface="Wingdings" panose="05000000000000000000" pitchFamily="2" charset="2"/>
              <a:buChar char="v"/>
            </a:pPr>
            <a:r>
              <a:rPr lang="fr-FR" sz="2000" dirty="0"/>
              <a:t>Les données du problème, les formes du phénomène ;</a:t>
            </a:r>
          </a:p>
          <a:p>
            <a:pPr lvl="2">
              <a:buFont typeface="Wingdings" panose="05000000000000000000" pitchFamily="2" charset="2"/>
              <a:buChar char="v"/>
            </a:pPr>
            <a:r>
              <a:rPr lang="fr-FR" sz="2000" dirty="0"/>
              <a:t>Les causes ;</a:t>
            </a:r>
          </a:p>
          <a:p>
            <a:pPr lvl="2">
              <a:buFont typeface="Wingdings" panose="05000000000000000000" pitchFamily="2" charset="2"/>
              <a:buChar char="v"/>
            </a:pPr>
            <a:r>
              <a:rPr lang="fr-FR" sz="2000" dirty="0"/>
              <a:t>Les solutions, remèdes et les recommandations</a:t>
            </a:r>
            <a:r>
              <a:rPr lang="fr-FR" sz="1800" dirty="0"/>
              <a:t>.</a:t>
            </a:r>
          </a:p>
          <a:p>
            <a:pPr lvl="1">
              <a:buFont typeface="Wingdings" panose="05000000000000000000" pitchFamily="2" charset="2"/>
              <a:buChar char="§"/>
            </a:pPr>
            <a:r>
              <a:rPr lang="fr-FR" sz="2000" dirty="0"/>
              <a:t>Comparatif : il examine successivement les thermes de la comparaison avant d’envisager un éventuel bilan …</a:t>
            </a:r>
          </a:p>
          <a:p>
            <a:pPr marL="457200" lvl="1" indent="0">
              <a:buNone/>
            </a:pPr>
            <a:endParaRPr lang="fr-FR" dirty="0"/>
          </a:p>
          <a:p>
            <a:pPr marL="0" indent="0">
              <a:buNone/>
            </a:pPr>
            <a:endParaRPr lang="fr-FR" dirty="0"/>
          </a:p>
        </p:txBody>
      </p:sp>
    </p:spTree>
    <p:extLst>
      <p:ext uri="{BB962C8B-B14F-4D97-AF65-F5344CB8AC3E}">
        <p14:creationId xmlns:p14="http://schemas.microsoft.com/office/powerpoint/2010/main" xmlns="" val="1866814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2 Le choix d’un sujet et d’un plan</a:t>
            </a:r>
            <a:endParaRPr lang="fr-FR" dirty="0"/>
          </a:p>
        </p:txBody>
      </p:sp>
      <p:sp>
        <p:nvSpPr>
          <p:cNvPr id="3" name="Espace réservé du contenu 2"/>
          <p:cNvSpPr>
            <a:spLocks noGrp="1"/>
          </p:cNvSpPr>
          <p:nvPr>
            <p:ph idx="1"/>
          </p:nvPr>
        </p:nvSpPr>
        <p:spPr/>
        <p:txBody>
          <a:bodyPr/>
          <a:lstStyle/>
          <a:p>
            <a:r>
              <a:rPr lang="fr-FR" dirty="0"/>
              <a:t>Un bon plan doit aussi répondre à des normes de subdivisions conventionnelles : parties, chapitres, sections et paragraphes. Cette structuration doit être homogène et opter pour soit la classification décimale, alphabétique ou alphanumérique comme le montre l’exemple ci-dessous :</a:t>
            </a:r>
          </a:p>
          <a:p>
            <a:pPr marL="0" indent="0">
              <a:buNone/>
            </a:pPr>
            <a:endParaRPr lang="fr-FR" dirty="0"/>
          </a:p>
        </p:txBody>
      </p:sp>
    </p:spTree>
    <p:extLst>
      <p:ext uri="{BB962C8B-B14F-4D97-AF65-F5344CB8AC3E}">
        <p14:creationId xmlns:p14="http://schemas.microsoft.com/office/powerpoint/2010/main" xmlns="" val="4055348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9491" y="1"/>
            <a:ext cx="12393827" cy="7352269"/>
          </a:xfrm>
        </p:spPr>
        <p:txBody>
          <a:bodyPr>
            <a:normAutofit/>
          </a:bodyPr>
          <a:lstStyle/>
          <a:p>
            <a:r>
              <a:rPr lang="fr-FR" b="1" dirty="0"/>
              <a:t>Introduction générale                                             Classification</a:t>
            </a:r>
            <a:endParaRPr lang="fr-FR" dirty="0"/>
          </a:p>
          <a:p>
            <a:r>
              <a:rPr lang="fr-FR" b="1" dirty="0"/>
              <a:t>                                                         décimale        alphabétique     alphanumérique</a:t>
            </a:r>
            <a:endParaRPr lang="fr-FR" dirty="0"/>
          </a:p>
          <a:p>
            <a:r>
              <a:rPr lang="fr-FR" b="1" dirty="0"/>
              <a:t>1</a:t>
            </a:r>
            <a:r>
              <a:rPr lang="fr-FR" b="1" baseline="30000" dirty="0"/>
              <a:t>ere</a:t>
            </a:r>
            <a:r>
              <a:rPr lang="fr-FR" b="1" dirty="0"/>
              <a:t> Partie                                                I			           A			       A</a:t>
            </a:r>
            <a:endParaRPr lang="fr-FR" dirty="0"/>
          </a:p>
          <a:p>
            <a:r>
              <a:rPr lang="fr-FR" b="1" i="1" dirty="0"/>
              <a:t>	</a:t>
            </a:r>
            <a:r>
              <a:rPr lang="fr-FR" b="1" dirty="0"/>
              <a:t>Chapitre 1		                		           1.1		           Aa			       A1</a:t>
            </a:r>
            <a:endParaRPr lang="fr-FR" dirty="0"/>
          </a:p>
          <a:p>
            <a:r>
              <a:rPr lang="fr-FR" dirty="0"/>
              <a:t>		</a:t>
            </a:r>
            <a:r>
              <a:rPr lang="fr-FR" b="1" dirty="0"/>
              <a:t>Section 1</a:t>
            </a:r>
            <a:r>
              <a:rPr lang="fr-FR" dirty="0"/>
              <a:t>                                         </a:t>
            </a:r>
            <a:r>
              <a:rPr lang="fr-FR" b="1" dirty="0"/>
              <a:t>1.1.1</a:t>
            </a:r>
            <a:r>
              <a:rPr lang="fr-FR" dirty="0"/>
              <a:t>                  </a:t>
            </a:r>
            <a:r>
              <a:rPr lang="fr-FR" b="1" dirty="0"/>
              <a:t>Aa a</a:t>
            </a:r>
            <a:r>
              <a:rPr lang="fr-FR" dirty="0"/>
              <a:t> 	             A 1 1</a:t>
            </a:r>
          </a:p>
          <a:p>
            <a:r>
              <a:rPr lang="fr-FR" dirty="0"/>
              <a:t>		</a:t>
            </a:r>
            <a:r>
              <a:rPr lang="fr-FR" b="1" dirty="0"/>
              <a:t>Section 2</a:t>
            </a:r>
            <a:r>
              <a:rPr lang="fr-FR" dirty="0"/>
              <a:t>	                                      </a:t>
            </a:r>
            <a:r>
              <a:rPr lang="fr-FR" b="1" dirty="0"/>
              <a:t>1.1.2	            Aa b	</a:t>
            </a:r>
            <a:endParaRPr lang="fr-FR" dirty="0"/>
          </a:p>
          <a:p>
            <a:r>
              <a:rPr lang="fr-FR" dirty="0"/>
              <a:t>		</a:t>
            </a:r>
            <a:r>
              <a:rPr lang="fr-FR" b="1" dirty="0"/>
              <a:t>Section 3</a:t>
            </a:r>
            <a:r>
              <a:rPr lang="fr-FR" dirty="0"/>
              <a:t>			                         </a:t>
            </a:r>
            <a:r>
              <a:rPr lang="fr-FR" b="1" dirty="0"/>
              <a:t>1.1.3	            Aa c</a:t>
            </a:r>
            <a:endParaRPr lang="fr-FR" dirty="0"/>
          </a:p>
          <a:p>
            <a:r>
              <a:rPr lang="fr-FR" b="1" i="1" dirty="0"/>
              <a:t>	</a:t>
            </a:r>
            <a:r>
              <a:rPr lang="fr-FR" b="1" dirty="0"/>
              <a:t>Chapitre 2   			         	            1.2		             Ab</a:t>
            </a:r>
            <a:endParaRPr lang="fr-FR" dirty="0"/>
          </a:p>
          <a:p>
            <a:r>
              <a:rPr lang="fr-FR" dirty="0"/>
              <a:t>		</a:t>
            </a:r>
            <a:r>
              <a:rPr lang="fr-FR" b="1" dirty="0"/>
              <a:t>Section 1</a:t>
            </a:r>
            <a:r>
              <a:rPr lang="fr-FR" dirty="0"/>
              <a:t>			                         </a:t>
            </a:r>
            <a:r>
              <a:rPr lang="fr-FR" b="1" dirty="0"/>
              <a:t>1.2.1	             A b a</a:t>
            </a:r>
            <a:endParaRPr lang="fr-FR" dirty="0"/>
          </a:p>
          <a:p>
            <a:r>
              <a:rPr lang="fr-FR" dirty="0"/>
              <a:t>		</a:t>
            </a:r>
            <a:r>
              <a:rPr lang="fr-FR" b="1" dirty="0"/>
              <a:t>Section 2</a:t>
            </a:r>
            <a:r>
              <a:rPr lang="fr-FR" dirty="0"/>
              <a:t>	                                      </a:t>
            </a:r>
            <a:r>
              <a:rPr lang="fr-FR" b="1" dirty="0"/>
              <a:t>1.2.2	             A b b</a:t>
            </a:r>
            <a:endParaRPr lang="fr-FR" dirty="0"/>
          </a:p>
          <a:p>
            <a:r>
              <a:rPr lang="fr-FR" dirty="0"/>
              <a:t>		</a:t>
            </a:r>
            <a:r>
              <a:rPr lang="fr-FR" b="1" dirty="0"/>
              <a:t>Section 3</a:t>
            </a:r>
            <a:r>
              <a:rPr lang="fr-FR" dirty="0"/>
              <a:t>	                                      </a:t>
            </a:r>
            <a:r>
              <a:rPr lang="fr-FR" b="1" dirty="0"/>
              <a:t>1.2.3	             A b c</a:t>
            </a:r>
            <a:endParaRPr lang="fr-FR" dirty="0"/>
          </a:p>
        </p:txBody>
      </p:sp>
    </p:spTree>
    <p:extLst>
      <p:ext uri="{BB962C8B-B14F-4D97-AF65-F5344CB8AC3E}">
        <p14:creationId xmlns:p14="http://schemas.microsoft.com/office/powerpoint/2010/main" xmlns="" val="3298941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3118" y="434183"/>
            <a:ext cx="11315228" cy="5744195"/>
          </a:xfrm>
        </p:spPr>
        <p:txBody>
          <a:bodyPr/>
          <a:lstStyle/>
          <a:p>
            <a:r>
              <a:rPr lang="fr-FR" dirty="0"/>
              <a:t> </a:t>
            </a:r>
            <a:r>
              <a:rPr lang="fr-FR" b="1" dirty="0"/>
              <a:t>2</a:t>
            </a:r>
            <a:r>
              <a:rPr lang="fr-FR" b="1" baseline="30000" dirty="0"/>
              <a:t>em</a:t>
            </a:r>
            <a:r>
              <a:rPr lang="fr-FR" b="1" dirty="0"/>
              <a:t> Partie                                                 II		           B				B		</a:t>
            </a:r>
            <a:endParaRPr lang="fr-FR" dirty="0"/>
          </a:p>
          <a:p>
            <a:r>
              <a:rPr lang="fr-FR" b="1" i="1" dirty="0"/>
              <a:t>	</a:t>
            </a:r>
            <a:r>
              <a:rPr lang="fr-FR" b="1" dirty="0"/>
              <a:t>Chapitre 3	                                             2.3                  B a 				B1</a:t>
            </a:r>
            <a:endParaRPr lang="fr-FR" dirty="0"/>
          </a:p>
          <a:p>
            <a:r>
              <a:rPr lang="fr-FR" dirty="0"/>
              <a:t>		</a:t>
            </a:r>
            <a:r>
              <a:rPr lang="fr-FR" b="1" dirty="0"/>
              <a:t>Section 1</a:t>
            </a:r>
            <a:r>
              <a:rPr lang="fr-FR" dirty="0"/>
              <a:t>	                                       </a:t>
            </a:r>
            <a:r>
              <a:rPr lang="fr-FR" b="1" dirty="0"/>
              <a:t>2.3.1	          B a </a:t>
            </a:r>
            <a:r>
              <a:rPr lang="fr-FR" b="1" dirty="0" err="1"/>
              <a:t>a</a:t>
            </a:r>
            <a:r>
              <a:rPr lang="fr-FR" b="1" dirty="0"/>
              <a:t>				B 1 1</a:t>
            </a:r>
            <a:endParaRPr lang="fr-FR" dirty="0"/>
          </a:p>
          <a:p>
            <a:r>
              <a:rPr lang="fr-FR" dirty="0"/>
              <a:t>		</a:t>
            </a:r>
            <a:r>
              <a:rPr lang="fr-FR" b="1" dirty="0"/>
              <a:t>Section 2</a:t>
            </a:r>
            <a:r>
              <a:rPr lang="fr-FR" dirty="0"/>
              <a:t>	                                      </a:t>
            </a:r>
            <a:r>
              <a:rPr lang="fr-FR" b="1" dirty="0"/>
              <a:t>2.3.2	          B a b</a:t>
            </a:r>
            <a:endParaRPr lang="fr-FR" dirty="0"/>
          </a:p>
          <a:p>
            <a:r>
              <a:rPr lang="fr-FR" dirty="0"/>
              <a:t>		</a:t>
            </a:r>
            <a:r>
              <a:rPr lang="fr-FR" b="1" dirty="0"/>
              <a:t>Section 3</a:t>
            </a:r>
            <a:r>
              <a:rPr lang="fr-FR" dirty="0"/>
              <a:t>	                                      </a:t>
            </a:r>
            <a:r>
              <a:rPr lang="fr-FR" b="1" dirty="0"/>
              <a:t>2.3.3	          B a c</a:t>
            </a:r>
            <a:endParaRPr lang="fr-FR" dirty="0"/>
          </a:p>
          <a:p>
            <a:r>
              <a:rPr lang="fr-FR" b="1" i="1" dirty="0"/>
              <a:t>	</a:t>
            </a:r>
            <a:r>
              <a:rPr lang="fr-FR" b="1" dirty="0"/>
              <a:t>Chapitre 4	                                           2.4                    B </a:t>
            </a:r>
            <a:r>
              <a:rPr lang="fr-FR" b="1" dirty="0" err="1"/>
              <a:t>b</a:t>
            </a:r>
            <a:endParaRPr lang="fr-FR" dirty="0"/>
          </a:p>
          <a:p>
            <a:r>
              <a:rPr lang="fr-FR" dirty="0"/>
              <a:t>		</a:t>
            </a:r>
            <a:r>
              <a:rPr lang="fr-FR" b="1" dirty="0"/>
              <a:t>Section 1</a:t>
            </a:r>
            <a:r>
              <a:rPr lang="fr-FR" dirty="0"/>
              <a:t>	                                     </a:t>
            </a:r>
            <a:r>
              <a:rPr lang="fr-FR" b="1" dirty="0"/>
              <a:t>2.4.1	                B </a:t>
            </a:r>
            <a:r>
              <a:rPr lang="fr-FR" b="1" dirty="0" err="1"/>
              <a:t>b</a:t>
            </a:r>
            <a:r>
              <a:rPr lang="fr-FR" b="1" dirty="0"/>
              <a:t> a</a:t>
            </a:r>
            <a:endParaRPr lang="fr-FR" dirty="0"/>
          </a:p>
          <a:p>
            <a:r>
              <a:rPr lang="fr-FR" dirty="0"/>
              <a:t>		</a:t>
            </a:r>
            <a:r>
              <a:rPr lang="fr-FR" b="1" dirty="0"/>
              <a:t>Section 2</a:t>
            </a:r>
            <a:r>
              <a:rPr lang="fr-FR" dirty="0"/>
              <a:t>	                                     </a:t>
            </a:r>
            <a:r>
              <a:rPr lang="fr-FR" b="1" dirty="0"/>
              <a:t>2.4.2	                B </a:t>
            </a:r>
            <a:r>
              <a:rPr lang="fr-FR" b="1" dirty="0" err="1"/>
              <a:t>b</a:t>
            </a:r>
            <a:r>
              <a:rPr lang="fr-FR" b="1" dirty="0"/>
              <a:t> </a:t>
            </a:r>
            <a:r>
              <a:rPr lang="fr-FR" b="1" dirty="0" err="1"/>
              <a:t>b</a:t>
            </a:r>
            <a:endParaRPr lang="fr-FR" dirty="0"/>
          </a:p>
          <a:p>
            <a:r>
              <a:rPr lang="fr-FR" dirty="0"/>
              <a:t>		</a:t>
            </a:r>
            <a:r>
              <a:rPr lang="fr-FR" b="1" dirty="0"/>
              <a:t>Section 3</a:t>
            </a:r>
            <a:r>
              <a:rPr lang="fr-FR" dirty="0"/>
              <a:t>	                                     </a:t>
            </a:r>
            <a:r>
              <a:rPr lang="fr-FR" b="1" dirty="0"/>
              <a:t>2.4.3	               B </a:t>
            </a:r>
            <a:r>
              <a:rPr lang="fr-FR" b="1" dirty="0" err="1"/>
              <a:t>b</a:t>
            </a:r>
            <a:r>
              <a:rPr lang="fr-FR" b="1" dirty="0"/>
              <a:t> c</a:t>
            </a:r>
            <a:endParaRPr lang="fr-FR" dirty="0"/>
          </a:p>
          <a:p>
            <a:r>
              <a:rPr lang="fr-FR" b="1" dirty="0"/>
              <a:t>Conclusion générale</a:t>
            </a:r>
            <a:r>
              <a:rPr lang="fr-FR" dirty="0"/>
              <a:t>        </a:t>
            </a:r>
          </a:p>
          <a:p>
            <a:pPr marL="0" indent="0">
              <a:buNone/>
            </a:pPr>
            <a:endParaRPr lang="fr-FR" dirty="0"/>
          </a:p>
        </p:txBody>
      </p:sp>
    </p:spTree>
    <p:extLst>
      <p:ext uri="{BB962C8B-B14F-4D97-AF65-F5344CB8AC3E}">
        <p14:creationId xmlns:p14="http://schemas.microsoft.com/office/powerpoint/2010/main" xmlns="" val="3436996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5809" y="59263"/>
            <a:ext cx="9404723" cy="780996"/>
          </a:xfrm>
        </p:spPr>
        <p:txBody>
          <a:bodyPr>
            <a:normAutofit fontScale="90000"/>
          </a:bodyPr>
          <a:lstStyle/>
          <a:p>
            <a:r>
              <a:rPr lang="fr-FR" b="1" dirty="0"/>
              <a:t>Plan d’un mémoire :</a:t>
            </a:r>
            <a:r>
              <a:rPr lang="fr-FR" dirty="0"/>
              <a:t/>
            </a:r>
            <a:br>
              <a:rPr lang="fr-FR" dirty="0"/>
            </a:br>
            <a:endParaRPr lang="fr-FR" dirty="0"/>
          </a:p>
        </p:txBody>
      </p:sp>
      <p:sp>
        <p:nvSpPr>
          <p:cNvPr id="3" name="Espace réservé du contenu 2"/>
          <p:cNvSpPr>
            <a:spLocks noGrp="1"/>
          </p:cNvSpPr>
          <p:nvPr>
            <p:ph idx="1"/>
          </p:nvPr>
        </p:nvSpPr>
        <p:spPr>
          <a:xfrm>
            <a:off x="305809" y="840260"/>
            <a:ext cx="10469283" cy="5906530"/>
          </a:xfrm>
        </p:spPr>
        <p:txBody>
          <a:bodyPr>
            <a:normAutofit fontScale="85000" lnSpcReduction="20000"/>
          </a:bodyPr>
          <a:lstStyle/>
          <a:p>
            <a:r>
              <a:rPr lang="fr-FR" sz="2200" dirty="0"/>
              <a:t>Sujet :</a:t>
            </a:r>
          </a:p>
          <a:p>
            <a:r>
              <a:rPr lang="fr-FR" sz="2200" dirty="0"/>
              <a:t>Introduction générale :</a:t>
            </a:r>
          </a:p>
          <a:p>
            <a:pPr lvl="1">
              <a:buFont typeface="Wingdings" panose="05000000000000000000" pitchFamily="2" charset="2"/>
              <a:buChar char="q"/>
            </a:pPr>
            <a:r>
              <a:rPr lang="fr-FR" sz="2200" dirty="0"/>
              <a:t>Le cadre théorique et méthodologique :</a:t>
            </a:r>
          </a:p>
          <a:p>
            <a:pPr lvl="2">
              <a:buFont typeface="Wingdings" panose="05000000000000000000" pitchFamily="2" charset="2"/>
              <a:buChar char="v"/>
            </a:pPr>
            <a:r>
              <a:rPr lang="fr-FR" sz="2200" dirty="0"/>
              <a:t>Chapitre 1 : Le cadre théorique :</a:t>
            </a:r>
          </a:p>
          <a:p>
            <a:pPr lvl="3">
              <a:buFont typeface="Wingdings" panose="05000000000000000000" pitchFamily="2" charset="2"/>
              <a:buChar char="Ø"/>
            </a:pPr>
            <a:r>
              <a:rPr lang="fr-FR" sz="2200" dirty="0"/>
              <a:t>	Section 1 : la problématique :</a:t>
            </a:r>
          </a:p>
          <a:p>
            <a:pPr lvl="3">
              <a:buFont typeface="Wingdings" panose="05000000000000000000" pitchFamily="2" charset="2"/>
              <a:buChar char="Ø"/>
            </a:pPr>
            <a:r>
              <a:rPr lang="fr-FR" sz="2200" dirty="0"/>
              <a:t>Section 2 : les objectifs de recherche</a:t>
            </a:r>
          </a:p>
          <a:p>
            <a:pPr lvl="3">
              <a:buFont typeface="Wingdings" panose="05000000000000000000" pitchFamily="2" charset="2"/>
              <a:buChar char="Ø"/>
            </a:pPr>
            <a:r>
              <a:rPr lang="fr-FR" sz="2200" dirty="0"/>
              <a:t>	Section 3 : les hypothèses de recherche</a:t>
            </a:r>
          </a:p>
          <a:p>
            <a:pPr lvl="3">
              <a:buFont typeface="Wingdings" panose="05000000000000000000" pitchFamily="2" charset="2"/>
              <a:buChar char="Ø"/>
            </a:pPr>
            <a:r>
              <a:rPr lang="fr-FR" sz="2200" dirty="0"/>
              <a:t>	Section 4 : la pertinence du sujet</a:t>
            </a:r>
          </a:p>
          <a:p>
            <a:pPr lvl="3">
              <a:buFont typeface="Wingdings" panose="05000000000000000000" pitchFamily="2" charset="2"/>
              <a:buChar char="Ø"/>
            </a:pPr>
            <a:r>
              <a:rPr lang="fr-FR" sz="2200" dirty="0"/>
              <a:t>	Section 5 : les définitions des mots clés et la revue critique de la littérature</a:t>
            </a:r>
          </a:p>
          <a:p>
            <a:pPr lvl="2">
              <a:buFont typeface="Wingdings" panose="05000000000000000000" pitchFamily="2" charset="2"/>
              <a:buChar char="v"/>
            </a:pPr>
            <a:r>
              <a:rPr lang="fr-FR" sz="2200" dirty="0"/>
              <a:t>Chapitre 2 : Le cadre méthodologique :</a:t>
            </a:r>
          </a:p>
          <a:p>
            <a:pPr lvl="3">
              <a:buFont typeface="Wingdings" panose="05000000000000000000" pitchFamily="2" charset="2"/>
              <a:buChar char="Ø"/>
            </a:pPr>
            <a:r>
              <a:rPr lang="fr-FR" sz="2200" dirty="0"/>
              <a:t>	Section 1 : la présentation de l’Entreprise (historique, missions, organisation) :</a:t>
            </a:r>
          </a:p>
          <a:p>
            <a:pPr lvl="3">
              <a:buFont typeface="Wingdings" panose="05000000000000000000" pitchFamily="2" charset="2"/>
              <a:buChar char="Ø"/>
            </a:pPr>
            <a:r>
              <a:rPr lang="fr-FR" sz="2200" dirty="0"/>
              <a:t>	Section 2 : la délimitation du champ d’étude</a:t>
            </a:r>
          </a:p>
          <a:p>
            <a:pPr lvl="3">
              <a:buFont typeface="Wingdings" panose="05000000000000000000" pitchFamily="2" charset="2"/>
              <a:buChar char="Ø"/>
            </a:pPr>
            <a:r>
              <a:rPr lang="fr-FR" sz="2200" dirty="0"/>
              <a:t>	Section 3 : les techniques d’investigation</a:t>
            </a:r>
          </a:p>
          <a:p>
            <a:pPr lvl="3">
              <a:buFont typeface="Wingdings" panose="05000000000000000000" pitchFamily="2" charset="2"/>
              <a:buChar char="Ø"/>
            </a:pPr>
            <a:r>
              <a:rPr lang="fr-FR" sz="2200" dirty="0"/>
              <a:t>	Section 4 : l’échantillonnage</a:t>
            </a:r>
          </a:p>
          <a:p>
            <a:pPr lvl="3">
              <a:buFont typeface="Wingdings" panose="05000000000000000000" pitchFamily="2" charset="2"/>
              <a:buChar char="Ø"/>
            </a:pPr>
            <a:r>
              <a:rPr lang="fr-FR" sz="2200" dirty="0"/>
              <a:t>Section 5 : les difficultés rencontrées</a:t>
            </a:r>
          </a:p>
          <a:p>
            <a:endParaRPr lang="fr-FR" dirty="0"/>
          </a:p>
        </p:txBody>
      </p:sp>
    </p:spTree>
    <p:extLst>
      <p:ext uri="{BB962C8B-B14F-4D97-AF65-F5344CB8AC3E}">
        <p14:creationId xmlns:p14="http://schemas.microsoft.com/office/powerpoint/2010/main" xmlns="" val="357735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1841" y="0"/>
            <a:ext cx="9404723" cy="741405"/>
          </a:xfrm>
        </p:spPr>
        <p:txBody>
          <a:bodyPr>
            <a:normAutofit/>
          </a:bodyPr>
          <a:lstStyle/>
          <a:p>
            <a:r>
              <a:rPr lang="fr-FR" b="1" dirty="0"/>
              <a:t>Plan d’un mémoire :</a:t>
            </a:r>
            <a:endParaRPr lang="fr-FR" dirty="0"/>
          </a:p>
        </p:txBody>
      </p:sp>
      <p:sp>
        <p:nvSpPr>
          <p:cNvPr id="3" name="Espace réservé du contenu 2"/>
          <p:cNvSpPr>
            <a:spLocks noGrp="1"/>
          </p:cNvSpPr>
          <p:nvPr>
            <p:ph idx="1"/>
          </p:nvPr>
        </p:nvSpPr>
        <p:spPr>
          <a:xfrm>
            <a:off x="151842" y="741406"/>
            <a:ext cx="9898012" cy="6005384"/>
          </a:xfrm>
        </p:spPr>
        <p:txBody>
          <a:bodyPr>
            <a:normAutofit fontScale="92500" lnSpcReduction="20000"/>
          </a:bodyPr>
          <a:lstStyle/>
          <a:p>
            <a:pPr lvl="0">
              <a:buFont typeface="Wingdings" panose="05000000000000000000" pitchFamily="2" charset="2"/>
              <a:buChar char="q"/>
            </a:pPr>
            <a:r>
              <a:rPr lang="fr-FR" dirty="0"/>
              <a:t>Le cadre analytique et quelques recommandations :</a:t>
            </a:r>
          </a:p>
          <a:p>
            <a:pPr lvl="1">
              <a:buFont typeface="Wingdings" panose="05000000000000000000" pitchFamily="2" charset="2"/>
              <a:buChar char="v"/>
            </a:pPr>
            <a:r>
              <a:rPr lang="fr-FR" sz="2000" dirty="0"/>
              <a:t>Chapitre 3 : La présentation, l’analyse et l’interprétation des résultats</a:t>
            </a:r>
          </a:p>
          <a:p>
            <a:pPr lvl="2">
              <a:buFont typeface="Wingdings" panose="05000000000000000000" pitchFamily="2" charset="2"/>
              <a:buChar char="Ø"/>
            </a:pPr>
            <a:r>
              <a:rPr lang="fr-FR" sz="2000" dirty="0"/>
              <a:t>	Section 1 : la présentation et l’analyse des résultats du guide d’entretien</a:t>
            </a:r>
          </a:p>
          <a:p>
            <a:pPr lvl="2">
              <a:buFont typeface="Wingdings" panose="05000000000000000000" pitchFamily="2" charset="2"/>
              <a:buChar char="Ø"/>
            </a:pPr>
            <a:r>
              <a:rPr lang="fr-FR" sz="2000" dirty="0"/>
              <a:t>Section 2 : la présentation et l’analyse des résultats du questionna</a:t>
            </a:r>
          </a:p>
          <a:p>
            <a:pPr lvl="2">
              <a:buFont typeface="Wingdings" panose="05000000000000000000" pitchFamily="2" charset="2"/>
              <a:buChar char="Ø"/>
            </a:pPr>
            <a:r>
              <a:rPr lang="fr-FR" sz="2000" dirty="0"/>
              <a:t>Section 3 : l’interprétation des résultats du guide d’entretien</a:t>
            </a:r>
          </a:p>
          <a:p>
            <a:pPr lvl="2">
              <a:buFont typeface="Wingdings" panose="05000000000000000000" pitchFamily="2" charset="2"/>
              <a:buChar char="Ø"/>
            </a:pPr>
            <a:r>
              <a:rPr lang="fr-FR" sz="2000" dirty="0"/>
              <a:t>Section 4 : l’interprétation des résultats du questionnaire</a:t>
            </a:r>
          </a:p>
          <a:p>
            <a:pPr lvl="2">
              <a:buFont typeface="Wingdings" panose="05000000000000000000" pitchFamily="2" charset="2"/>
              <a:buChar char="Ø"/>
            </a:pPr>
            <a:r>
              <a:rPr lang="fr-FR" sz="2000" dirty="0"/>
              <a:t>	Section 5 : </a:t>
            </a:r>
          </a:p>
          <a:p>
            <a:pPr lvl="1">
              <a:buFont typeface="Wingdings" panose="05000000000000000000" pitchFamily="2" charset="2"/>
              <a:buChar char="v"/>
            </a:pPr>
            <a:r>
              <a:rPr lang="fr-FR" sz="2000" dirty="0"/>
              <a:t>Chapitre 4 : Les recommandations</a:t>
            </a:r>
          </a:p>
          <a:p>
            <a:pPr lvl="2">
              <a:buFont typeface="Wingdings" panose="05000000000000000000" pitchFamily="2" charset="2"/>
              <a:buChar char="Ø"/>
            </a:pPr>
            <a:r>
              <a:rPr lang="fr-FR" sz="2000" dirty="0"/>
              <a:t>	Section 1 : les recommandations par rapport à…</a:t>
            </a:r>
          </a:p>
          <a:p>
            <a:pPr lvl="2">
              <a:buFont typeface="Wingdings" panose="05000000000000000000" pitchFamily="2" charset="2"/>
              <a:buChar char="Ø"/>
            </a:pPr>
            <a:r>
              <a:rPr lang="fr-FR" sz="2000" dirty="0"/>
              <a:t>Section 2 : les recommandations par rapport à…</a:t>
            </a:r>
          </a:p>
          <a:p>
            <a:pPr lvl="2">
              <a:buFont typeface="Wingdings" panose="05000000000000000000" pitchFamily="2" charset="2"/>
              <a:buChar char="Ø"/>
            </a:pPr>
            <a:r>
              <a:rPr lang="fr-FR" sz="2000" dirty="0"/>
              <a:t>	Section 3 : les recommandations par rapport à…</a:t>
            </a:r>
          </a:p>
          <a:p>
            <a:pPr lvl="2">
              <a:buFont typeface="Wingdings" panose="05000000000000000000" pitchFamily="2" charset="2"/>
              <a:buChar char="Ø"/>
            </a:pPr>
            <a:r>
              <a:rPr lang="fr-FR" sz="2000" dirty="0"/>
              <a:t>	Section 4 : les recommandations par rapport à…</a:t>
            </a:r>
          </a:p>
          <a:p>
            <a:pPr lvl="2">
              <a:buFont typeface="Wingdings" panose="05000000000000000000" pitchFamily="2" charset="2"/>
              <a:buChar char="Ø"/>
            </a:pPr>
            <a:r>
              <a:rPr lang="fr-FR" sz="2000" dirty="0"/>
              <a:t>	Section 5 : les recommandations par rapport à…</a:t>
            </a:r>
          </a:p>
          <a:p>
            <a:r>
              <a:rPr lang="fr-FR" dirty="0"/>
              <a:t>Conclusion générale </a:t>
            </a:r>
          </a:p>
          <a:p>
            <a:pPr marL="0" indent="0">
              <a:buNone/>
            </a:pPr>
            <a:r>
              <a:rPr lang="fr-FR" dirty="0"/>
              <a:t>	</a:t>
            </a:r>
          </a:p>
        </p:txBody>
      </p:sp>
    </p:spTree>
    <p:extLst>
      <p:ext uri="{BB962C8B-B14F-4D97-AF65-F5344CB8AC3E}">
        <p14:creationId xmlns:p14="http://schemas.microsoft.com/office/powerpoint/2010/main" xmlns="" val="3800691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Introduction </a:t>
            </a:r>
            <a:r>
              <a:rPr lang="fr-FR" dirty="0"/>
              <a:t/>
            </a:r>
            <a:br>
              <a:rPr lang="fr-FR" dirty="0"/>
            </a:br>
            <a:endParaRPr lang="fr-FR" dirty="0"/>
          </a:p>
        </p:txBody>
      </p:sp>
      <p:sp>
        <p:nvSpPr>
          <p:cNvPr id="3" name="Espace réservé du contenu 2"/>
          <p:cNvSpPr>
            <a:spLocks noGrp="1"/>
          </p:cNvSpPr>
          <p:nvPr>
            <p:ph idx="1"/>
          </p:nvPr>
        </p:nvSpPr>
        <p:spPr/>
        <p:txBody>
          <a:bodyPr/>
          <a:lstStyle/>
          <a:p>
            <a:r>
              <a:rPr lang="fr-FR" dirty="0"/>
              <a:t>En une page maximum, l’introduction doit cadrer le travail et susciter l’intérêt des lecteurs. Elle annonce le plan du mémoire. Elle est rédigée en termes clairs pour être compris de non spécialistes du domaine. • Définir rapidement le domaine d’étude • Présenter brièvement le contexte • Préciser la pertinence de la problématique (son actualité, son importance) • Annoncer le plan du mémoire.</a:t>
            </a:r>
          </a:p>
          <a:p>
            <a:pPr marL="0" indent="0">
              <a:buNone/>
            </a:pPr>
            <a:endParaRPr lang="fr-FR" dirty="0"/>
          </a:p>
        </p:txBody>
      </p:sp>
    </p:spTree>
    <p:extLst>
      <p:ext uri="{BB962C8B-B14F-4D97-AF65-F5344CB8AC3E}">
        <p14:creationId xmlns:p14="http://schemas.microsoft.com/office/powerpoint/2010/main" xmlns="" val="3877264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04336" y="539216"/>
            <a:ext cx="9574608" cy="1400530"/>
          </a:xfrm>
        </p:spPr>
        <p:txBody>
          <a:bodyPr/>
          <a:lstStyle/>
          <a:p>
            <a:r>
              <a:rPr lang="fr-FR" sz="3600" b="1" dirty="0"/>
              <a:t>Partie I : Cadre méthodologique et théorique</a:t>
            </a:r>
            <a:r>
              <a:rPr lang="fr-FR" dirty="0"/>
              <a:t/>
            </a:r>
            <a:br>
              <a:rPr lang="fr-FR" dirty="0"/>
            </a:br>
            <a:endParaRPr lang="fr-FR" dirty="0"/>
          </a:p>
        </p:txBody>
      </p:sp>
      <p:sp>
        <p:nvSpPr>
          <p:cNvPr id="3" name="Espace réservé du contenu 2"/>
          <p:cNvSpPr>
            <a:spLocks noGrp="1"/>
          </p:cNvSpPr>
          <p:nvPr>
            <p:ph idx="1"/>
          </p:nvPr>
        </p:nvSpPr>
        <p:spPr/>
        <p:txBody>
          <a:bodyPr>
            <a:normAutofit/>
          </a:bodyPr>
          <a:lstStyle/>
          <a:p>
            <a:r>
              <a:rPr lang="fr-FR" b="1" dirty="0"/>
              <a:t>Chapitre 1 : Concepts généraux liés au(x) domaine(s) à étudier</a:t>
            </a:r>
            <a:endParaRPr lang="fr-FR" dirty="0"/>
          </a:p>
          <a:p>
            <a:pPr lvl="1">
              <a:buFont typeface="Wingdings" panose="05000000000000000000" pitchFamily="2" charset="2"/>
              <a:buChar char="§"/>
            </a:pPr>
            <a:r>
              <a:rPr lang="fr-FR" sz="2000" dirty="0"/>
              <a:t>Identifier et décrire les concepts (technologies, protocoles, etc.) de base qui seront utilisés pour atteindre les objectifs</a:t>
            </a:r>
          </a:p>
          <a:p>
            <a:pPr lvl="1">
              <a:buFont typeface="Wingdings" panose="05000000000000000000" pitchFamily="2" charset="2"/>
              <a:buChar char="§"/>
            </a:pPr>
            <a:r>
              <a:rPr lang="fr-FR" sz="2000" dirty="0"/>
              <a:t>rappeler les principales définitions et la terminologie utilisée</a:t>
            </a:r>
          </a:p>
          <a:p>
            <a:pPr lvl="1">
              <a:buFont typeface="Wingdings" panose="05000000000000000000" pitchFamily="2" charset="2"/>
              <a:buChar char="§"/>
            </a:pPr>
            <a:r>
              <a:rPr lang="fr-FR" sz="2000" dirty="0"/>
              <a:t>décrire les meilleures pratiques ou normes en vigueur dans le domaine du sujet,</a:t>
            </a:r>
          </a:p>
          <a:p>
            <a:pPr marL="0" lvl="0" indent="0">
              <a:buNone/>
            </a:pPr>
            <a:r>
              <a:rPr lang="fr-FR" dirty="0"/>
              <a:t>		etc.</a:t>
            </a:r>
          </a:p>
          <a:p>
            <a:pPr marL="0" indent="0">
              <a:buNone/>
            </a:pPr>
            <a:endParaRPr lang="fr-FR" dirty="0"/>
          </a:p>
        </p:txBody>
      </p:sp>
    </p:spTree>
    <p:extLst>
      <p:ext uri="{BB962C8B-B14F-4D97-AF65-F5344CB8AC3E}">
        <p14:creationId xmlns:p14="http://schemas.microsoft.com/office/powerpoint/2010/main" xmlns="" val="3599770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4400" b="1" dirty="0"/>
              <a:t>Partie I : Cadre méthodologique et théorique</a:t>
            </a:r>
            <a:endParaRPr lang="fr-FR" dirty="0"/>
          </a:p>
        </p:txBody>
      </p:sp>
      <p:sp>
        <p:nvSpPr>
          <p:cNvPr id="3" name="Espace réservé du contenu 2"/>
          <p:cNvSpPr>
            <a:spLocks noGrp="1"/>
          </p:cNvSpPr>
          <p:nvPr>
            <p:ph idx="1"/>
          </p:nvPr>
        </p:nvSpPr>
        <p:spPr/>
        <p:txBody>
          <a:bodyPr>
            <a:normAutofit fontScale="92500" lnSpcReduction="10000"/>
          </a:bodyPr>
          <a:lstStyle/>
          <a:p>
            <a:r>
              <a:rPr lang="fr-FR" b="1" dirty="0"/>
              <a:t>Chapitre 2 : Etude de l’existant (organisation administrative, infrastructure technologique, et Problématique)</a:t>
            </a:r>
            <a:endParaRPr lang="fr-FR" dirty="0"/>
          </a:p>
          <a:p>
            <a:pPr lvl="1"/>
            <a:r>
              <a:rPr lang="fr-FR" sz="2000" dirty="0"/>
              <a:t>Présentation administrative de la structure d’accueil</a:t>
            </a:r>
          </a:p>
          <a:p>
            <a:pPr lvl="1"/>
            <a:r>
              <a:rPr lang="fr-FR" sz="2000" dirty="0"/>
              <a:t>Description de l’existant (topologie physique et logique des infrastructures, etc.)</a:t>
            </a:r>
          </a:p>
          <a:p>
            <a:pPr lvl="1"/>
            <a:r>
              <a:rPr lang="fr-FR" sz="2000" dirty="0"/>
              <a:t>Analyse de l’existant (points forts, points faibles)</a:t>
            </a:r>
          </a:p>
          <a:p>
            <a:pPr lvl="1"/>
            <a:r>
              <a:rPr lang="fr-FR" sz="2000" dirty="0"/>
              <a:t>Problématique (Poser les questions sur les conséquences de la non résolution des points faibles sur l’organisation,)</a:t>
            </a:r>
          </a:p>
          <a:p>
            <a:pPr lvl="1"/>
            <a:r>
              <a:rPr lang="fr-FR" sz="2000" dirty="0"/>
              <a:t>Objectifs :(proposer des axes ou mesures d’amélioration en identifiant ce qu’on souhaite atteindre et indiquer comment cette atteinte est mesurée),</a:t>
            </a:r>
          </a:p>
          <a:p>
            <a:pPr lvl="1"/>
            <a:r>
              <a:rPr lang="fr-FR" sz="2000" dirty="0"/>
              <a:t>Etc.</a:t>
            </a:r>
          </a:p>
          <a:p>
            <a:endParaRPr lang="fr-FR" dirty="0"/>
          </a:p>
        </p:txBody>
      </p:sp>
    </p:spTree>
    <p:extLst>
      <p:ext uri="{BB962C8B-B14F-4D97-AF65-F5344CB8AC3E}">
        <p14:creationId xmlns:p14="http://schemas.microsoft.com/office/powerpoint/2010/main" xmlns="" val="1971206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Partie II : CADRE ANALYTIQUE</a:t>
            </a:r>
            <a:r>
              <a:rPr lang="fr-FR" dirty="0"/>
              <a:t/>
            </a:r>
            <a:br>
              <a:rPr lang="fr-FR" dirty="0"/>
            </a:br>
            <a:endParaRPr lang="fr-FR" dirty="0"/>
          </a:p>
        </p:txBody>
      </p:sp>
      <p:sp>
        <p:nvSpPr>
          <p:cNvPr id="3" name="Espace réservé du contenu 2"/>
          <p:cNvSpPr>
            <a:spLocks noGrp="1"/>
          </p:cNvSpPr>
          <p:nvPr>
            <p:ph idx="1"/>
          </p:nvPr>
        </p:nvSpPr>
        <p:spPr/>
        <p:txBody>
          <a:bodyPr>
            <a:normAutofit/>
          </a:bodyPr>
          <a:lstStyle/>
          <a:p>
            <a:pPr lvl="0"/>
            <a:r>
              <a:rPr lang="fr-FR" b="1" dirty="0"/>
              <a:t>Proposition ou conception de la solution</a:t>
            </a:r>
            <a:endParaRPr lang="fr-FR" dirty="0"/>
          </a:p>
          <a:p>
            <a:pPr lvl="1">
              <a:buFont typeface="Wingdings" panose="05000000000000000000" pitchFamily="2" charset="2"/>
              <a:buChar char="§"/>
            </a:pPr>
            <a:r>
              <a:rPr lang="fr-FR" sz="2000" dirty="0"/>
              <a:t>Décrire les différentes offres de solutions existantes dans le marché</a:t>
            </a:r>
          </a:p>
          <a:p>
            <a:pPr lvl="1">
              <a:buFont typeface="Wingdings" panose="05000000000000000000" pitchFamily="2" charset="2"/>
              <a:buChar char="§"/>
            </a:pPr>
            <a:r>
              <a:rPr lang="fr-FR" sz="2000" dirty="0"/>
              <a:t>Etudier comparativement les solutions</a:t>
            </a:r>
          </a:p>
          <a:p>
            <a:pPr lvl="1">
              <a:buFont typeface="Wingdings" panose="05000000000000000000" pitchFamily="2" charset="2"/>
              <a:buChar char="§"/>
            </a:pPr>
            <a:r>
              <a:rPr lang="fr-FR" sz="2000" dirty="0"/>
              <a:t>Définir et appliquer des critères de choix pour justifier la solution idoine par rapport aux objectifs</a:t>
            </a:r>
          </a:p>
          <a:p>
            <a:pPr lvl="1">
              <a:buFont typeface="Wingdings" panose="05000000000000000000" pitchFamily="2" charset="2"/>
              <a:buChar char="§"/>
            </a:pPr>
            <a:r>
              <a:rPr lang="fr-FR" sz="2000" dirty="0"/>
              <a:t>Décrire de façon plus détaillée la solution choisie en mettant l’accent sur les éléments ou composants essentiels en rapport avec les objectifs.</a:t>
            </a:r>
          </a:p>
          <a:p>
            <a:pPr lvl="1">
              <a:buFont typeface="Wingdings" panose="05000000000000000000" pitchFamily="2" charset="2"/>
              <a:buChar char="§"/>
            </a:pPr>
            <a:r>
              <a:rPr lang="fr-FR" sz="2000" dirty="0"/>
              <a:t>Concevoir la maquette de test</a:t>
            </a:r>
          </a:p>
          <a:p>
            <a:endParaRPr lang="fr-FR" dirty="0"/>
          </a:p>
        </p:txBody>
      </p:sp>
    </p:spTree>
    <p:extLst>
      <p:ext uri="{BB962C8B-B14F-4D97-AF65-F5344CB8AC3E}">
        <p14:creationId xmlns:p14="http://schemas.microsoft.com/office/powerpoint/2010/main" xmlns="" val="4070732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Partie II : CADRE ANALYTIQUE</a:t>
            </a:r>
            <a:endParaRPr lang="fr-FR" dirty="0"/>
          </a:p>
        </p:txBody>
      </p:sp>
      <p:sp>
        <p:nvSpPr>
          <p:cNvPr id="3" name="Espace réservé du contenu 2"/>
          <p:cNvSpPr>
            <a:spLocks noGrp="1"/>
          </p:cNvSpPr>
          <p:nvPr>
            <p:ph idx="1"/>
          </p:nvPr>
        </p:nvSpPr>
        <p:spPr/>
        <p:txBody>
          <a:bodyPr/>
          <a:lstStyle/>
          <a:p>
            <a:pPr lvl="0"/>
            <a:r>
              <a:rPr lang="fr-FR" b="1" dirty="0"/>
              <a:t>Implémentation ou mise en œuvre (installation, configuration, tests)</a:t>
            </a:r>
            <a:endParaRPr lang="fr-FR" dirty="0"/>
          </a:p>
          <a:p>
            <a:pPr lvl="1">
              <a:buFont typeface="Wingdings" panose="05000000000000000000" pitchFamily="2" charset="2"/>
              <a:buChar char="§"/>
            </a:pPr>
            <a:r>
              <a:rPr lang="fr-FR" dirty="0"/>
              <a:t>Décrire les procédures d’installation (prérequis, sources, commandes d’installation)</a:t>
            </a:r>
          </a:p>
          <a:p>
            <a:pPr lvl="1">
              <a:buFont typeface="Wingdings" panose="05000000000000000000" pitchFamily="2" charset="2"/>
              <a:buChar char="§"/>
            </a:pPr>
            <a:r>
              <a:rPr lang="fr-FR" dirty="0"/>
              <a:t>Identifier et décrire les paramètres de configuration à manipuler et ainsi que les données ou argument en entrée,</a:t>
            </a:r>
          </a:p>
          <a:p>
            <a:pPr lvl="1">
              <a:buFont typeface="Wingdings" panose="05000000000000000000" pitchFamily="2" charset="2"/>
              <a:buChar char="§"/>
            </a:pPr>
            <a:r>
              <a:rPr lang="fr-FR" dirty="0"/>
              <a:t>Effectuer les configurations nécessaires</a:t>
            </a:r>
          </a:p>
          <a:p>
            <a:pPr lvl="1">
              <a:buFont typeface="Wingdings" panose="05000000000000000000" pitchFamily="2" charset="2"/>
              <a:buChar char="§"/>
            </a:pPr>
            <a:r>
              <a:rPr lang="fr-FR" dirty="0"/>
              <a:t>Tester les configurations ou paramétrages ainsi réalisés</a:t>
            </a:r>
          </a:p>
          <a:p>
            <a:pPr lvl="1">
              <a:buFont typeface="Wingdings" panose="05000000000000000000" pitchFamily="2" charset="2"/>
              <a:buChar char="§"/>
            </a:pPr>
            <a:r>
              <a:rPr lang="fr-FR" dirty="0"/>
              <a:t>Discuter les résultats des tests et faire des recommandations le cas échéant</a:t>
            </a:r>
          </a:p>
          <a:p>
            <a:endParaRPr lang="fr-FR" dirty="0"/>
          </a:p>
        </p:txBody>
      </p:sp>
    </p:spTree>
    <p:extLst>
      <p:ext uri="{BB962C8B-B14F-4D97-AF65-F5344CB8AC3E}">
        <p14:creationId xmlns:p14="http://schemas.microsoft.com/office/powerpoint/2010/main" xmlns="" val="832664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normAutofit/>
          </a:bodyPr>
          <a:lstStyle/>
          <a:p>
            <a:r>
              <a:rPr lang="fr-FR" b="1" dirty="0"/>
              <a:t>Conclusion</a:t>
            </a:r>
            <a:endParaRPr lang="fr-FR" dirty="0"/>
          </a:p>
          <a:p>
            <a:pPr lvl="0"/>
            <a:r>
              <a:rPr lang="fr-FR" dirty="0"/>
              <a:t>Rappeler le contexte et la problématique (l’objet du travail), et les objectifs à atteindre pour répondre à celle-ci. </a:t>
            </a:r>
          </a:p>
          <a:p>
            <a:pPr lvl="0"/>
            <a:r>
              <a:rPr lang="fr-FR" dirty="0"/>
              <a:t>Rappeler la démarche suivie et le résultat obtenu. </a:t>
            </a:r>
          </a:p>
          <a:p>
            <a:pPr lvl="0"/>
            <a:r>
              <a:rPr lang="fr-FR" dirty="0"/>
              <a:t>Apprécier la qualité des tests, leur pertinence au regard des attentes de l’organisation. Démontrer l’impact du travail sur l’organisation. </a:t>
            </a:r>
          </a:p>
          <a:p>
            <a:pPr lvl="0"/>
            <a:r>
              <a:rPr lang="fr-FR" dirty="0"/>
              <a:t>Ouvrir des perspectives sur les évolutions possibles du travail.</a:t>
            </a:r>
          </a:p>
          <a:p>
            <a:endParaRPr lang="fr-FR" dirty="0"/>
          </a:p>
        </p:txBody>
      </p:sp>
    </p:spTree>
    <p:extLst>
      <p:ext uri="{BB962C8B-B14F-4D97-AF65-F5344CB8AC3E}">
        <p14:creationId xmlns:p14="http://schemas.microsoft.com/office/powerpoint/2010/main" xmlns="" val="2954455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200" b="1" dirty="0"/>
              <a:t>Deuxième partie : la stratégie de recherche et les outils d’élaboration du mémoire</a:t>
            </a:r>
            <a:r>
              <a:rPr lang="fr-FR" sz="3200" dirty="0"/>
              <a:t/>
            </a:r>
            <a:br>
              <a:rPr lang="fr-FR" sz="3200" dirty="0"/>
            </a:br>
            <a:endParaRPr lang="fr-FR" sz="3200" dirty="0"/>
          </a:p>
        </p:txBody>
      </p:sp>
      <p:sp>
        <p:nvSpPr>
          <p:cNvPr id="3" name="Espace réservé du contenu 2"/>
          <p:cNvSpPr>
            <a:spLocks noGrp="1"/>
          </p:cNvSpPr>
          <p:nvPr>
            <p:ph idx="1"/>
          </p:nvPr>
        </p:nvSpPr>
        <p:spPr>
          <a:xfrm>
            <a:off x="1103312" y="2052918"/>
            <a:ext cx="8946541" cy="4471450"/>
          </a:xfrm>
        </p:spPr>
        <p:txBody>
          <a:bodyPr>
            <a:normAutofit fontScale="92500" lnSpcReduction="10000"/>
          </a:bodyPr>
          <a:lstStyle/>
          <a:p>
            <a:r>
              <a:rPr lang="fr-FR" dirty="0"/>
              <a:t>La définition d’une bonne stratégie de recherche est indispensable et nécessaire pour élaborer un travail de recherche. La recherche est une entreprise de longue haleine et elle exige, avant tout autre qualité, une très grande patience. Mais la patience est vaine là où il n’</a:t>
            </a:r>
            <a:r>
              <a:rPr lang="fr-FR" dirty="0" err="1"/>
              <a:t>ya</a:t>
            </a:r>
            <a:r>
              <a:rPr lang="fr-FR" dirty="0"/>
              <a:t> pas de méthode permettant d’orienter et d’organiser l’effort minutieusement. La patience, pour le chercheur, c’est d’abord de s’arrêter à ce qui a  déjà été accompli pour l’assimiler et pour en faire son point de départ. Toute recherche nouvelle se définit d'abord comme une mise au point partielle ou globale, de ce qui a été fait avant d’entreprendre ce qui reste à faire. Si nous ne connaissons pas ce qui s’est fait jusqu’au moment où nous commençons notre propre recherche, nous nous condamnons, soit à le répéter plus ou moins bien et, ainsi, à ne s’offrir d’autre perspective que la stagnation, soit à se situer en deçà de ce nous savons déjà. Cette étape se compose de trois séquences : la définition de la stratégie de recherche, la présentation physique et orale du mémoire et les différentes parties du texte.</a:t>
            </a:r>
          </a:p>
          <a:p>
            <a:endParaRPr lang="fr-FR" dirty="0"/>
          </a:p>
        </p:txBody>
      </p:sp>
    </p:spTree>
    <p:extLst>
      <p:ext uri="{BB962C8B-B14F-4D97-AF65-F5344CB8AC3E}">
        <p14:creationId xmlns:p14="http://schemas.microsoft.com/office/powerpoint/2010/main" xmlns="" val="2357449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t> Chapitre 3 : La stratégie de recherche</a:t>
            </a:r>
            <a:r>
              <a:rPr lang="fr-FR" dirty="0"/>
              <a:t> </a:t>
            </a:r>
            <a:br>
              <a:rPr lang="fr-FR" dirty="0"/>
            </a:br>
            <a:endParaRPr lang="fr-FR" dirty="0"/>
          </a:p>
        </p:txBody>
      </p:sp>
      <p:sp>
        <p:nvSpPr>
          <p:cNvPr id="3" name="Espace réservé du contenu 2"/>
          <p:cNvSpPr>
            <a:spLocks noGrp="1"/>
          </p:cNvSpPr>
          <p:nvPr>
            <p:ph idx="1"/>
          </p:nvPr>
        </p:nvSpPr>
        <p:spPr/>
        <p:txBody>
          <a:bodyPr/>
          <a:lstStyle/>
          <a:p>
            <a:r>
              <a:rPr lang="fr-FR" dirty="0"/>
              <a:t>Vous avez un sujet de réflexion bien défini, un directeur de recherche et un plan bien élaboré, vous devez maintenant rédiger à partir de vos propres idées et celles des autres un texte correcte dans la forme et riche dans le fond. Le travail de recherche nécessite des idées correctes, des arguments fiables et des exemples illustratifs. Cette longue aventure se compose de 3 grandes étapes : la phase d’observation, la phase de dépouillement et la phase de rédaction.</a:t>
            </a:r>
          </a:p>
          <a:p>
            <a:endParaRPr lang="fr-FR" dirty="0"/>
          </a:p>
        </p:txBody>
      </p:sp>
    </p:spTree>
    <p:extLst>
      <p:ext uri="{BB962C8B-B14F-4D97-AF65-F5344CB8AC3E}">
        <p14:creationId xmlns:p14="http://schemas.microsoft.com/office/powerpoint/2010/main" xmlns="" val="4027835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7127" y="0"/>
            <a:ext cx="9404723" cy="1400530"/>
          </a:xfrm>
        </p:spPr>
        <p:txBody>
          <a:bodyPr>
            <a:normAutofit/>
          </a:bodyPr>
          <a:lstStyle/>
          <a:p>
            <a:r>
              <a:rPr lang="fr-FR" b="1" dirty="0"/>
              <a:t>La phase d’observation :</a:t>
            </a:r>
            <a:r>
              <a:rPr lang="fr-FR" dirty="0"/>
              <a:t/>
            </a:r>
            <a:br>
              <a:rPr lang="fr-FR" dirty="0"/>
            </a:br>
            <a:endParaRPr lang="fr-FR" dirty="0"/>
          </a:p>
        </p:txBody>
      </p:sp>
      <p:sp>
        <p:nvSpPr>
          <p:cNvPr id="3" name="Espace réservé du contenu 2"/>
          <p:cNvSpPr>
            <a:spLocks noGrp="1"/>
          </p:cNvSpPr>
          <p:nvPr>
            <p:ph idx="1"/>
          </p:nvPr>
        </p:nvSpPr>
        <p:spPr>
          <a:xfrm>
            <a:off x="0" y="1017059"/>
            <a:ext cx="11417643" cy="5840941"/>
          </a:xfrm>
        </p:spPr>
        <p:txBody>
          <a:bodyPr>
            <a:noAutofit/>
          </a:bodyPr>
          <a:lstStyle/>
          <a:p>
            <a:r>
              <a:rPr lang="fr-FR" sz="1800" dirty="0"/>
              <a:t>Elle se fait sur le terrain (entreprise, administration, lieu local, bibliothèque, centre de recherche, site web…) et consiste à la collecte d’informations, de données, la consultation des documents, d’ouvrages, de revues, de rapports, de mémoires, thèses… </a:t>
            </a:r>
          </a:p>
          <a:p>
            <a:r>
              <a:rPr lang="fr-FR" sz="1800" b="1" u="sng" dirty="0"/>
              <a:t>Quelques  conseils utiles</a:t>
            </a:r>
            <a:r>
              <a:rPr lang="fr-FR" sz="1800" dirty="0"/>
              <a:t> :</a:t>
            </a:r>
          </a:p>
          <a:p>
            <a:r>
              <a:rPr lang="fr-FR" sz="1800" dirty="0"/>
              <a:t>Pendant le stage en entreprise, il faut observer, participer à la vie du service et recueillir une documentation.</a:t>
            </a:r>
          </a:p>
          <a:p>
            <a:pPr lvl="0"/>
            <a:r>
              <a:rPr lang="fr-FR" sz="1800" dirty="0"/>
              <a:t>L’observation consiste à vous concentrer sur l’organisation générale  et le fonctionnement du bureau et du service, sa place et son rôle dans l’entreprise, ses liaisons avec les autres services et avec la direction, les diverse étapes d’une opération ou d’un processus, les méthodes de classement des documents, la documentation utilisée, les méthodes de travail leur rapidité, leur efficacité et les dénominations utilisées ;</a:t>
            </a:r>
          </a:p>
          <a:p>
            <a:pPr lvl="0"/>
            <a:r>
              <a:rPr lang="fr-FR" sz="1800" dirty="0"/>
              <a:t>La participation à la vie du service : en entreprise, vous devez réclamer du travail à faire, étudier le climat social, les relations humaines et hiérarchiques … Il ne faut surtout pas hésiter à nouer le contact avec tous ceux qui peuvent vous fournir des informations ;</a:t>
            </a:r>
          </a:p>
          <a:p>
            <a:pPr lvl="0"/>
            <a:r>
              <a:rPr lang="fr-FR" sz="1800" dirty="0"/>
              <a:t>Le recueil de la documentation : pendant le stage, vous devez demander à votre maitre de stage (mentor) la permission de photocopier des documents qui concernent votre sujet et qui vont constituer les annexes de votre mémoire. Il faut mettre l’accent sur la documentation générale de l’Entreprise (notice commerciale, notice technique, statut …).</a:t>
            </a:r>
          </a:p>
        </p:txBody>
      </p:sp>
    </p:spTree>
    <p:extLst>
      <p:ext uri="{BB962C8B-B14F-4D97-AF65-F5344CB8AC3E}">
        <p14:creationId xmlns:p14="http://schemas.microsoft.com/office/powerpoint/2010/main" xmlns="" val="1328368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lvl="0"/>
            <a:r>
              <a:rPr lang="fr-FR" b="1" dirty="0"/>
              <a:t>La phase d’exploitation ou de dépouillement</a:t>
            </a:r>
            <a:r>
              <a:rPr lang="fr-FR" dirty="0"/>
              <a:t/>
            </a:r>
            <a:br>
              <a:rPr lang="fr-FR" dirty="0"/>
            </a:br>
            <a:endParaRPr lang="fr-FR" dirty="0"/>
          </a:p>
        </p:txBody>
      </p:sp>
      <p:sp>
        <p:nvSpPr>
          <p:cNvPr id="3" name="Espace réservé du contenu 2"/>
          <p:cNvSpPr>
            <a:spLocks noGrp="1"/>
          </p:cNvSpPr>
          <p:nvPr>
            <p:ph idx="1"/>
          </p:nvPr>
        </p:nvSpPr>
        <p:spPr/>
        <p:txBody>
          <a:bodyPr/>
          <a:lstStyle/>
          <a:p>
            <a:r>
              <a:rPr lang="fr-FR" sz="2400" dirty="0"/>
              <a:t>C’est le moment de la confrontation de l’ensemble des données et informations recueillies. Les classeurs, les fiches de recherches, les notes prises, les formulaires de questionnaires, les interviews réalisées et les entretiens effectués seront revus et exploités</a:t>
            </a:r>
            <a:r>
              <a:rPr lang="fr-FR" dirty="0"/>
              <a:t>.</a:t>
            </a:r>
          </a:p>
        </p:txBody>
      </p:sp>
    </p:spTree>
    <p:extLst>
      <p:ext uri="{BB962C8B-B14F-4D97-AF65-F5344CB8AC3E}">
        <p14:creationId xmlns:p14="http://schemas.microsoft.com/office/powerpoint/2010/main" xmlns="" val="2542278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La phase de rédaction </a:t>
            </a:r>
            <a:r>
              <a:rPr lang="fr-FR" dirty="0"/>
              <a:t/>
            </a:r>
            <a:br>
              <a:rPr lang="fr-FR" dirty="0"/>
            </a:br>
            <a:endParaRPr lang="fr-FR" dirty="0"/>
          </a:p>
        </p:txBody>
      </p:sp>
      <p:sp>
        <p:nvSpPr>
          <p:cNvPr id="3" name="Espace réservé du contenu 2"/>
          <p:cNvSpPr>
            <a:spLocks noGrp="1"/>
          </p:cNvSpPr>
          <p:nvPr>
            <p:ph idx="1"/>
          </p:nvPr>
        </p:nvSpPr>
        <p:spPr>
          <a:xfrm>
            <a:off x="732610" y="1756356"/>
            <a:ext cx="8946541" cy="4195481"/>
          </a:xfrm>
        </p:spPr>
        <p:txBody>
          <a:bodyPr>
            <a:normAutofit fontScale="92500" lnSpcReduction="10000"/>
          </a:bodyPr>
          <a:lstStyle/>
          <a:p>
            <a:r>
              <a:rPr lang="fr-FR" dirty="0"/>
              <a:t>Pour élaborer un mémoire de qualité il faut appliquer un style scientifique et transparent en respectant les normes de présentation  du mémoire : police 12 pour le texte, 10 pour les notes de bas de pages,14 et en gras pour les titres, caractère Times New Roman, interligne 1.5 pour le texte et 1 pour les notes de bas de page, 1,5 pour le retrait sur tous les paragraphes, marges de droite et de gauche 3,5, haut et bas de page 2,5 et tout le texte doit être justifié. Le style de la rédaction doit aussi :</a:t>
            </a:r>
          </a:p>
          <a:p>
            <a:pPr lvl="1"/>
            <a:r>
              <a:rPr lang="fr-FR" dirty="0"/>
              <a:t>respecter scrupuleusement les normes grammaticales et syntaxiques, ainsi que la morphologie française (quand vous employez un mot d’une autre langue, le mettre entre guillemets) ;</a:t>
            </a:r>
          </a:p>
          <a:p>
            <a:pPr lvl="1"/>
            <a:r>
              <a:rPr lang="fr-FR" dirty="0"/>
              <a:t>rechercher l’objectivité dans l’expression, c'est-à-dire s’efforcer inlassablement d’éliminer de son travail, tout état d’âme imparfaitement dominé ;</a:t>
            </a:r>
          </a:p>
          <a:p>
            <a:endParaRPr lang="fr-FR" dirty="0"/>
          </a:p>
        </p:txBody>
      </p:sp>
    </p:spTree>
    <p:extLst>
      <p:ext uri="{BB962C8B-B14F-4D97-AF65-F5344CB8AC3E}">
        <p14:creationId xmlns:p14="http://schemas.microsoft.com/office/powerpoint/2010/main" xmlns="" val="3886674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La phase de rédaction</a:t>
            </a:r>
            <a:endParaRPr lang="fr-FR" dirty="0"/>
          </a:p>
        </p:txBody>
      </p:sp>
      <p:sp>
        <p:nvSpPr>
          <p:cNvPr id="3" name="Espace réservé du contenu 2"/>
          <p:cNvSpPr>
            <a:spLocks noGrp="1"/>
          </p:cNvSpPr>
          <p:nvPr>
            <p:ph idx="1"/>
          </p:nvPr>
        </p:nvSpPr>
        <p:spPr>
          <a:xfrm>
            <a:off x="1103312" y="2052918"/>
            <a:ext cx="8946541" cy="4706228"/>
          </a:xfrm>
        </p:spPr>
        <p:txBody>
          <a:bodyPr>
            <a:normAutofit fontScale="92500" lnSpcReduction="10000"/>
          </a:bodyPr>
          <a:lstStyle/>
          <a:p>
            <a:pPr lvl="0"/>
            <a:r>
              <a:rPr lang="fr-FR" dirty="0"/>
              <a:t>veiller avec soin à la ponctuation qui obéit à des règles très précises. La ponctuation n’est pas un fait secondaire, mais un système de signes fondamentaux dans la communication écrite. Elle peut favoriser ou, au contraire, entraver celle- ci selon qu’elle est bien ou mal gérée. s’agissant de l’utilisation des deux point et du point virgule, il faut savoir qu’après ces signes, il n’</a:t>
            </a:r>
            <a:r>
              <a:rPr lang="fr-FR" dirty="0" err="1"/>
              <a:t>ya</a:t>
            </a:r>
            <a:r>
              <a:rPr lang="fr-FR" dirty="0"/>
              <a:t> pas de majuscule. C’est l’emploi de la virgule qui est le plus difficile. A ce sujet, il faut retenir les principes suivants :</a:t>
            </a:r>
          </a:p>
          <a:p>
            <a:pPr lvl="0"/>
            <a:r>
              <a:rPr lang="fr-FR" dirty="0"/>
              <a:t>elle est obligatoire entre des termes coordonnés lorsqu’elle intervient elle-même comme élément de  coordination ; Exemple : j’achète des livres, des cahiers, des ardoises et des stylos.</a:t>
            </a:r>
          </a:p>
          <a:p>
            <a:pPr lvl="0"/>
            <a:r>
              <a:rPr lang="fr-FR" dirty="0"/>
              <a:t>Elle se place généralement devant les conjonctions autres que ou, et, ni ; exemple : il nous faut un arbitre, car les conflits se multiplient.</a:t>
            </a:r>
          </a:p>
          <a:p>
            <a:pPr lvl="0"/>
            <a:r>
              <a:rPr lang="fr-FR" dirty="0"/>
              <a:t>Elle se place devant la conjonction ou, et, ni répétée devant au moins trois éléments coordonnés : exemple : Ni mon père, ni mon frère, ni moi-même ne sommes à votre disposition.</a:t>
            </a:r>
          </a:p>
          <a:p>
            <a:pPr marL="0" indent="0">
              <a:buNone/>
            </a:pPr>
            <a:endParaRPr lang="fr-FR" dirty="0"/>
          </a:p>
        </p:txBody>
      </p:sp>
    </p:spTree>
    <p:extLst>
      <p:ext uri="{BB962C8B-B14F-4D97-AF65-F5344CB8AC3E}">
        <p14:creationId xmlns:p14="http://schemas.microsoft.com/office/powerpoint/2010/main" xmlns="" val="1247681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a:t>La phase de rédaction</a:t>
            </a:r>
            <a:endParaRPr lang="fr-FR"/>
          </a:p>
        </p:txBody>
      </p:sp>
      <p:sp>
        <p:nvSpPr>
          <p:cNvPr id="3" name="Espace réservé du contenu 2"/>
          <p:cNvSpPr>
            <a:spLocks noGrp="1"/>
          </p:cNvSpPr>
          <p:nvPr>
            <p:ph idx="1"/>
          </p:nvPr>
        </p:nvSpPr>
        <p:spPr>
          <a:xfrm>
            <a:off x="324838" y="1608075"/>
            <a:ext cx="10499682" cy="5039860"/>
          </a:xfrm>
        </p:spPr>
        <p:txBody>
          <a:bodyPr>
            <a:normAutofit/>
          </a:bodyPr>
          <a:lstStyle/>
          <a:p>
            <a:r>
              <a:rPr lang="fr-FR" dirty="0"/>
              <a:t>Ainsi, le style académique se caractérise par le respect délibéré de l’ensemble des normes grammaticales, syntaxiques et morphologiques de la langue. A priori, les écarts aux normes seront appréciés en termes d’incompétence, c'est-à-dire en termes de non maitrise de la langue. Ils seront sanctionnés comme tels par le jury qui consacre d’ailleurs traditionnellement une bonne partie de son intervention à la critique des fautes de langue. Il faut donc se départir de tout laxisme, de rejeter les constructions irrégulières ou fautives, d’éviter les néologismes, les abus de langue, les négligences et autres légèretés. Le TAU doit être conforme aux canons officiels, normatifs pour éviter l’anarchie. On se gardera de tout plagiat (le fait de s’attribuer indument l’œuvre d’un auteur) sous quelque forme qu’il puisse apparaitre. Les citations d’auteurs obéissent à des règles particulières.</a:t>
            </a:r>
          </a:p>
          <a:p>
            <a:pPr marL="0" indent="0">
              <a:buNone/>
            </a:pPr>
            <a:endParaRPr lang="fr-FR" dirty="0"/>
          </a:p>
        </p:txBody>
      </p:sp>
    </p:spTree>
    <p:extLst>
      <p:ext uri="{BB962C8B-B14F-4D97-AF65-F5344CB8AC3E}">
        <p14:creationId xmlns:p14="http://schemas.microsoft.com/office/powerpoint/2010/main" xmlns="" val="2671112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b="1" u="sng" dirty="0"/>
              <a:t>RAPPEL Comment élaborer un paragraphe ?</a:t>
            </a:r>
            <a:r>
              <a:rPr lang="fr-FR" dirty="0"/>
              <a:t/>
            </a:r>
            <a:br>
              <a:rPr lang="fr-FR" dirty="0"/>
            </a:br>
            <a:endParaRPr lang="fr-FR" dirty="0"/>
          </a:p>
        </p:txBody>
      </p:sp>
      <p:sp>
        <p:nvSpPr>
          <p:cNvPr id="3" name="Espace réservé du contenu 2"/>
          <p:cNvSpPr>
            <a:spLocks noGrp="1"/>
          </p:cNvSpPr>
          <p:nvPr>
            <p:ph idx="1"/>
          </p:nvPr>
        </p:nvSpPr>
        <p:spPr>
          <a:xfrm>
            <a:off x="337193" y="1853248"/>
            <a:ext cx="10623250" cy="4570304"/>
          </a:xfrm>
        </p:spPr>
        <p:txBody>
          <a:bodyPr>
            <a:normAutofit fontScale="85000" lnSpcReduction="20000"/>
          </a:bodyPr>
          <a:lstStyle/>
          <a:p>
            <a:r>
              <a:rPr lang="fr-FR" sz="2300" dirty="0"/>
              <a:t>Le paragraphe est composé de 4 séquences essentielles :</a:t>
            </a:r>
          </a:p>
          <a:p>
            <a:pPr lvl="1"/>
            <a:r>
              <a:rPr lang="fr-FR" sz="2100" dirty="0"/>
              <a:t>L’idée générale ou centrale : c’est la thèse qu’il faudra développer ou défendre ;</a:t>
            </a:r>
          </a:p>
          <a:p>
            <a:pPr lvl="1"/>
            <a:r>
              <a:rPr lang="fr-FR" sz="2100" dirty="0"/>
              <a:t>L’argumentation : elle est une démonstration fondée sur un raisonnement logique. Les arguments servent à étayer l’idée générale (rapport consulté, ouvrage lu, auteur convoqué, informations sur le net …). La richesse d’un texte est impérativement liée à la diversité de ces éléments ;</a:t>
            </a:r>
          </a:p>
          <a:p>
            <a:pPr lvl="1"/>
            <a:r>
              <a:rPr lang="fr-FR" sz="2100" dirty="0"/>
              <a:t>Les exemples qui permettent d’illustrer les arguments ;</a:t>
            </a:r>
          </a:p>
          <a:p>
            <a:pPr lvl="1"/>
            <a:r>
              <a:rPr lang="fr-FR" sz="2100" dirty="0"/>
              <a:t>La phrase conclusive qui sert en même temps de transition : c’est la fin du raisonnement, la confirmation de l’idée générale mais aussi une transition qui permet le passage d’une subdivision à l’autre : d’une part, en annonçant ce qui suit, et d’autre part en le reliant à ce qui précède. En général, une ou deux phrases bien pensées, bien construites servent de transition. Les transitions ont une grande importance pour l’uniformité voire la  clarté du document, car cela oblige sans cesse à des précisions, des éclaircissements, des mises au point qui sont utiles autant à l’auteur, contraint aussi à clarifier sa pensée, qu’au lecteur qui trouve davantage de points de repère.</a:t>
            </a:r>
          </a:p>
          <a:p>
            <a:pPr lvl="1"/>
            <a:r>
              <a:rPr lang="fr-FR" sz="2100" dirty="0"/>
              <a:t>Les connecteurs logiques qui permettent de lier l’idée générale aux arguments, les arguments aux exemples et les exemples à la conclusion partielle.</a:t>
            </a:r>
          </a:p>
          <a:p>
            <a:endParaRPr lang="fr-FR" dirty="0"/>
          </a:p>
        </p:txBody>
      </p:sp>
    </p:spTree>
    <p:extLst>
      <p:ext uri="{BB962C8B-B14F-4D97-AF65-F5344CB8AC3E}">
        <p14:creationId xmlns:p14="http://schemas.microsoft.com/office/powerpoint/2010/main" xmlns="" val="1342351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b="1" dirty="0"/>
              <a:t>Chapitre 4 : les outils d’élaboration du mémoire</a:t>
            </a:r>
            <a:r>
              <a:rPr lang="fr-FR" sz="3600" dirty="0"/>
              <a:t> </a:t>
            </a:r>
            <a:r>
              <a:rPr lang="fr-FR" dirty="0"/>
              <a:t/>
            </a:r>
            <a:br>
              <a:rPr lang="fr-FR" dirty="0"/>
            </a:br>
            <a:endParaRPr lang="fr-FR" dirty="0"/>
          </a:p>
        </p:txBody>
      </p:sp>
      <p:sp>
        <p:nvSpPr>
          <p:cNvPr id="3" name="Espace réservé du contenu 2"/>
          <p:cNvSpPr>
            <a:spLocks noGrp="1"/>
          </p:cNvSpPr>
          <p:nvPr>
            <p:ph idx="1"/>
          </p:nvPr>
        </p:nvSpPr>
        <p:spPr/>
        <p:txBody>
          <a:bodyPr>
            <a:normAutofit/>
          </a:bodyPr>
          <a:lstStyle/>
          <a:p>
            <a:r>
              <a:rPr lang="fr-FR" dirty="0"/>
              <a:t>Pour mener une recherche, il existe des endroits bien précis où vous trouverez des informations fiables :</a:t>
            </a:r>
          </a:p>
          <a:p>
            <a:pPr lvl="0"/>
            <a:r>
              <a:rPr lang="fr-FR" dirty="0"/>
              <a:t>Les services de documentation, l’administration, les entreprises, les établissements d’enseignements … ces structures se sont dotées progressivement d’outils qui vous permettront de trouver une information spécialisée classée et mise à jour.</a:t>
            </a:r>
          </a:p>
          <a:p>
            <a:pPr lvl="0"/>
            <a:r>
              <a:rPr lang="fr-FR" dirty="0"/>
              <a:t>La presse : la lecture des quotidiens et hebdomadaires est utile surtout pour les questions d’actualité ; </a:t>
            </a:r>
          </a:p>
          <a:p>
            <a:pPr lvl="0"/>
            <a:r>
              <a:rPr lang="fr-FR" dirty="0"/>
              <a:t>Les catalogues périodiques d’une bibliothèque : ils sont en général composés de dictionnaires et d’encyclopédies</a:t>
            </a:r>
          </a:p>
          <a:p>
            <a:pPr marL="0" indent="0">
              <a:buNone/>
            </a:pPr>
            <a:endParaRPr lang="fr-FR" dirty="0"/>
          </a:p>
        </p:txBody>
      </p:sp>
    </p:spTree>
    <p:extLst>
      <p:ext uri="{BB962C8B-B14F-4D97-AF65-F5344CB8AC3E}">
        <p14:creationId xmlns:p14="http://schemas.microsoft.com/office/powerpoint/2010/main" xmlns="" val="2031366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9484" y="168512"/>
            <a:ext cx="9404723" cy="1400530"/>
          </a:xfrm>
        </p:spPr>
        <p:txBody>
          <a:bodyPr/>
          <a:lstStyle/>
          <a:p>
            <a:r>
              <a:rPr lang="fr-FR" sz="3600" b="1" dirty="0"/>
              <a:t>Chapitre 4 : les outils d’élaboration du mémoire</a:t>
            </a:r>
            <a:endParaRPr lang="fr-FR" sz="3600" dirty="0"/>
          </a:p>
        </p:txBody>
      </p:sp>
      <p:sp>
        <p:nvSpPr>
          <p:cNvPr id="3" name="Espace réservé du contenu 2"/>
          <p:cNvSpPr>
            <a:spLocks noGrp="1"/>
          </p:cNvSpPr>
          <p:nvPr>
            <p:ph idx="1"/>
          </p:nvPr>
        </p:nvSpPr>
        <p:spPr>
          <a:xfrm>
            <a:off x="225982" y="1322174"/>
            <a:ext cx="11475867" cy="5436972"/>
          </a:xfrm>
        </p:spPr>
        <p:txBody>
          <a:bodyPr>
            <a:normAutofit fontScale="62500" lnSpcReduction="20000"/>
          </a:bodyPr>
          <a:lstStyle/>
          <a:p>
            <a:pPr lvl="0"/>
            <a:r>
              <a:rPr lang="fr-FR" sz="2900" dirty="0"/>
              <a:t>Les sites web : </a:t>
            </a:r>
            <a:r>
              <a:rPr lang="fr-FR" sz="2900" u="sng" dirty="0">
                <a:hlinkClick r:id="rId2"/>
              </a:rPr>
              <a:t>http://www.revues.org</a:t>
            </a:r>
            <a:r>
              <a:rPr lang="fr-FR" sz="2900" dirty="0"/>
              <a:t> … Il faut, dès le moment où un projet de recherche est engagé, non seulement mettre en place une recherche documentaire systématique relative à votre question de départ, mais encore s’habituer à faire de la veille documentaire. Autrement dit, il vous faut régulièrement consulter les sites que nous vous avons donnés en référence afin de pouvoir être en permanence au courant des nouvelles publications qui pourraient concerner votre sujet. Si pour les ouvrages, cette veille est relativement aisée par ce moyen, pour les revues, la tâche est plus complexe.  </a:t>
            </a:r>
          </a:p>
          <a:p>
            <a:pPr lvl="0"/>
            <a:r>
              <a:rPr lang="fr-FR" sz="2900" dirty="0"/>
              <a:t>Les bibliothèques publiques et privées ;</a:t>
            </a:r>
          </a:p>
          <a:p>
            <a:pPr lvl="0"/>
            <a:r>
              <a:rPr lang="fr-FR" sz="2900" dirty="0"/>
              <a:t>Le questionnaire : c’est un document élaboré en plusieurs questions et adressé aux individus en vue de recueillir leur avis sur la question traitée. La mise au point du questionnaire requiert du soin et de la réflexion. Il présente l’avantage d’harmoniser les réponses reçues et ainsi d’en rendre l’exploitation plus facile ;</a:t>
            </a:r>
          </a:p>
          <a:p>
            <a:pPr lvl="0"/>
            <a:r>
              <a:rPr lang="fr-FR" sz="2900" dirty="0"/>
              <a:t>Le guide d’entretien : c’est un genre d’interview, des échanges que vous effectuez avec des personnes qui détiennent beaucoup d’information sur votre sujet.</a:t>
            </a:r>
          </a:p>
          <a:p>
            <a:pPr lvl="0"/>
            <a:r>
              <a:rPr lang="fr-FR" sz="2900" dirty="0"/>
              <a:t>L’étude de cas : le chercheur n’agit pas non plus sur les variables en cause; il cherche seulement à observer les interrelations possibles entre ces variables. Au lieu de porter son investigation sur un grand nombre de personnes ou de faits, il étudie un nombre limité de cas considérés comme significatifs. L’objectif est de comprendre en profondeur une situation sociale, un fait social, un groupe de personnes, un individu, etc. C’est une étude de description et de compréhension d’un fait ;</a:t>
            </a:r>
          </a:p>
          <a:p>
            <a:pPr lvl="0"/>
            <a:r>
              <a:rPr lang="fr-FR" sz="2900" dirty="0"/>
              <a:t>Le stage</a:t>
            </a:r>
          </a:p>
          <a:p>
            <a:endParaRPr lang="fr-FR" dirty="0"/>
          </a:p>
        </p:txBody>
      </p:sp>
    </p:spTree>
    <p:extLst>
      <p:ext uri="{BB962C8B-B14F-4D97-AF65-F5344CB8AC3E}">
        <p14:creationId xmlns:p14="http://schemas.microsoft.com/office/powerpoint/2010/main" xmlns="" val="2901759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200" b="1" dirty="0"/>
              <a:t>Principes de notation et de classement des références bibliographiques :</a:t>
            </a:r>
            <a:r>
              <a:rPr lang="fr-FR" sz="3200" dirty="0"/>
              <a:t/>
            </a:r>
            <a:br>
              <a:rPr lang="fr-FR" sz="3200" dirty="0"/>
            </a:br>
            <a:endParaRPr lang="fr-FR" sz="3200" dirty="0"/>
          </a:p>
        </p:txBody>
      </p:sp>
      <p:sp>
        <p:nvSpPr>
          <p:cNvPr id="3" name="Espace réservé du contenu 2"/>
          <p:cNvSpPr>
            <a:spLocks noGrp="1"/>
          </p:cNvSpPr>
          <p:nvPr>
            <p:ph idx="1"/>
          </p:nvPr>
        </p:nvSpPr>
        <p:spPr/>
        <p:txBody>
          <a:bodyPr/>
          <a:lstStyle/>
          <a:p>
            <a:r>
              <a:rPr lang="fr-FR" dirty="0"/>
              <a:t>Tout TAU comporte nécessairement une bibliographie, aussi complète que possible. La densité de la bibliographie et des références bibliographiques constituent un des indices apparents du sérieux avec lequel le TAU a été conduit. La bibliographie est susceptible de plusieurs modes de classement mais le plus courant est celui par ordre alphabétique :</a:t>
            </a:r>
          </a:p>
          <a:p>
            <a:r>
              <a:rPr lang="fr-FR" dirty="0"/>
              <a:t>Nom et prénom de l’auteur, titre du texte en italique, maison et lieu d’Edition, collection années, tomes et pages.</a:t>
            </a:r>
          </a:p>
          <a:p>
            <a:pPr lvl="2"/>
            <a:r>
              <a:rPr lang="fr-FR" sz="1800" dirty="0"/>
              <a:t>Djibril SAMB, </a:t>
            </a:r>
            <a:r>
              <a:rPr lang="fr-FR" sz="1800" i="1" dirty="0"/>
              <a:t>Cheikh </a:t>
            </a:r>
            <a:r>
              <a:rPr lang="fr-FR" sz="1800" i="1" dirty="0" err="1"/>
              <a:t>Anta</a:t>
            </a:r>
            <a:r>
              <a:rPr lang="fr-FR" sz="1800" i="1" dirty="0"/>
              <a:t> Diop,</a:t>
            </a:r>
            <a:r>
              <a:rPr lang="fr-FR" sz="1800" dirty="0"/>
              <a:t> Dakar, N.E.A.S, 1992, page 37</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xmlns="" val="1671244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dirty="0"/>
              <a:t>Principes de notation et de classement des références bibliographiques</a:t>
            </a:r>
            <a:r>
              <a:rPr lang="fr-FR" sz="4400" b="1" dirty="0"/>
              <a:t> :</a:t>
            </a:r>
            <a:endParaRPr lang="fr-FR" dirty="0"/>
          </a:p>
        </p:txBody>
      </p:sp>
      <p:sp>
        <p:nvSpPr>
          <p:cNvPr id="3" name="Espace réservé du contenu 2"/>
          <p:cNvSpPr>
            <a:spLocks noGrp="1"/>
          </p:cNvSpPr>
          <p:nvPr>
            <p:ph idx="1"/>
          </p:nvPr>
        </p:nvSpPr>
        <p:spPr/>
        <p:txBody>
          <a:bodyPr>
            <a:normAutofit/>
          </a:bodyPr>
          <a:lstStyle/>
          <a:p>
            <a:r>
              <a:rPr lang="fr-FR" b="1" dirty="0"/>
              <a:t>Les références bibliographiques :</a:t>
            </a:r>
            <a:r>
              <a:rPr lang="fr-FR" dirty="0"/>
              <a:t> elles sont  destinées simplement à présenter les références précises des ouvrages et études mentionnées, citées ou utilisés par l’auteur. Elles sont donc des notes de renvoi servant à indiquer vos sources sur des points particuliers de vos développements. Exemple D’après Dufour(1), les notes sont des « signes de repères  ». Elles sont présentées non selon l’ordre alphabétique mais d’après l’ordre d’appel interne.</a:t>
            </a:r>
          </a:p>
          <a:p>
            <a:pPr marL="0" indent="0">
              <a:buNone/>
            </a:pPr>
            <a:r>
              <a:rPr lang="fr-FR" dirty="0"/>
              <a:t> </a:t>
            </a:r>
          </a:p>
          <a:p>
            <a:r>
              <a:rPr lang="fr-FR" dirty="0"/>
              <a:t>1 Il faut donner toutes les informations sur son ouvrage.</a:t>
            </a:r>
          </a:p>
          <a:p>
            <a:pPr marL="0" indent="0">
              <a:buNone/>
            </a:pPr>
            <a:r>
              <a:rPr lang="fr-FR" dirty="0"/>
              <a:t> </a:t>
            </a:r>
          </a:p>
          <a:p>
            <a:endParaRPr lang="fr-FR" dirty="0"/>
          </a:p>
        </p:txBody>
      </p:sp>
    </p:spTree>
    <p:extLst>
      <p:ext uri="{BB962C8B-B14F-4D97-AF65-F5344CB8AC3E}">
        <p14:creationId xmlns:p14="http://schemas.microsoft.com/office/powerpoint/2010/main" xmlns="" val="3933614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03312" y="2224215"/>
            <a:ext cx="9404723" cy="4188941"/>
          </a:xfrm>
        </p:spPr>
        <p:txBody>
          <a:bodyPr/>
          <a:lstStyle/>
          <a:p>
            <a:r>
              <a:rPr lang="fr-FR" b="1" dirty="0"/>
              <a:t>Troisième partie : la présentation et la soutenance du mémoire  </a:t>
            </a:r>
            <a:r>
              <a:rPr lang="fr-FR" dirty="0"/>
              <a:t/>
            </a:r>
            <a:br>
              <a:rPr lang="fr-FR" dirty="0"/>
            </a:br>
            <a:endParaRPr lang="fr-FR" dirty="0"/>
          </a:p>
        </p:txBody>
      </p:sp>
      <p:sp>
        <p:nvSpPr>
          <p:cNvPr id="3" name="Espace réservé du contenu 2"/>
          <p:cNvSpPr>
            <a:spLocks noGrp="1"/>
          </p:cNvSpPr>
          <p:nvPr>
            <p:ph idx="1"/>
          </p:nvPr>
        </p:nvSpPr>
        <p:spPr/>
        <p:txBody>
          <a:bodyPr/>
          <a:lstStyle/>
          <a:p>
            <a:pPr marL="0" indent="0">
              <a:buNone/>
            </a:pPr>
            <a:endParaRPr lang="fr-FR" sz="2400" b="1" dirty="0"/>
          </a:p>
          <a:p>
            <a:pPr marL="0" indent="0">
              <a:buNone/>
            </a:pPr>
            <a:endParaRPr lang="fr-FR" sz="2400" dirty="0"/>
          </a:p>
          <a:p>
            <a:pPr marL="0" indent="0">
              <a:buNone/>
            </a:pPr>
            <a:endParaRPr lang="fr-FR" dirty="0"/>
          </a:p>
        </p:txBody>
      </p:sp>
    </p:spTree>
    <p:extLst>
      <p:ext uri="{BB962C8B-B14F-4D97-AF65-F5344CB8AC3E}">
        <p14:creationId xmlns:p14="http://schemas.microsoft.com/office/powerpoint/2010/main" xmlns="" val="521057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0122" y="181135"/>
            <a:ext cx="9404723" cy="1400530"/>
          </a:xfrm>
        </p:spPr>
        <p:txBody>
          <a:bodyPr>
            <a:normAutofit fontScale="90000"/>
          </a:bodyPr>
          <a:lstStyle/>
          <a:p>
            <a:r>
              <a:rPr lang="fr-FR" b="1" dirty="0"/>
              <a:t>Chapitre 5 : la Présentation du mémoire</a:t>
            </a:r>
            <a:r>
              <a:rPr lang="fr-FR" dirty="0"/>
              <a:t/>
            </a:r>
            <a:br>
              <a:rPr lang="fr-FR" dirty="0"/>
            </a:br>
            <a:endParaRPr lang="fr-FR" dirty="0"/>
          </a:p>
        </p:txBody>
      </p:sp>
      <p:sp>
        <p:nvSpPr>
          <p:cNvPr id="3" name="Espace réservé du contenu 2"/>
          <p:cNvSpPr>
            <a:spLocks noGrp="1"/>
          </p:cNvSpPr>
          <p:nvPr>
            <p:ph idx="1"/>
          </p:nvPr>
        </p:nvSpPr>
        <p:spPr>
          <a:xfrm>
            <a:off x="875201" y="1581665"/>
            <a:ext cx="8946541" cy="5276335"/>
          </a:xfrm>
        </p:spPr>
        <p:txBody>
          <a:bodyPr>
            <a:normAutofit fontScale="77500" lnSpcReduction="20000"/>
          </a:bodyPr>
          <a:lstStyle/>
          <a:p>
            <a:r>
              <a:rPr lang="fr-FR" dirty="0"/>
              <a:t>Un travail académique obéit à des normes de présentation qu’il faut respecter car votre document sera soumis à un jury qui vous évaluera selon ces normes de présentations. Connaitre ces dernières vous permet d’anticiper sur les critiques du jury concernant la forme académique d’un travail. Les éléments constitutifs du mémoire sont :</a:t>
            </a:r>
          </a:p>
          <a:p>
            <a:pPr lvl="1"/>
            <a:r>
              <a:rPr lang="fr-FR" sz="2100" dirty="0"/>
              <a:t>la page de couverture : elle est aussi appelée page de titre et elle permet de présenter votre travail et de l’institutionnaliser. Elle se compose comme suit :</a:t>
            </a:r>
          </a:p>
          <a:p>
            <a:pPr lvl="1"/>
            <a:r>
              <a:rPr lang="fr-FR" sz="2100" dirty="0"/>
              <a:t>la République d’exercice, Le drapeau, la devise, le ministère et la direction de tutelle ;</a:t>
            </a:r>
          </a:p>
          <a:p>
            <a:pPr lvl="1"/>
            <a:r>
              <a:rPr lang="fr-FR" sz="2100" dirty="0"/>
              <a:t>le nom de l’établissement ou de l’institut (plus le logo)</a:t>
            </a:r>
          </a:p>
          <a:p>
            <a:pPr lvl="1"/>
            <a:r>
              <a:rPr lang="fr-FR" sz="2100" dirty="0"/>
              <a:t>le titre du mémoire ;</a:t>
            </a:r>
          </a:p>
          <a:p>
            <a:pPr lvl="1"/>
            <a:r>
              <a:rPr lang="fr-FR" sz="2100" dirty="0"/>
              <a:t>la mention du diplôme concerné et spécialité en option ;</a:t>
            </a:r>
          </a:p>
          <a:p>
            <a:pPr lvl="1"/>
            <a:r>
              <a:rPr lang="fr-FR" sz="2100" dirty="0"/>
              <a:t>le sujet du mémoire ;</a:t>
            </a:r>
          </a:p>
          <a:p>
            <a:pPr lvl="1"/>
            <a:r>
              <a:rPr lang="fr-FR" sz="2100" dirty="0"/>
              <a:t>le nom et prénom de l’auteur (à gauche précédé de « présenté et soutenu par ») ;</a:t>
            </a:r>
          </a:p>
          <a:p>
            <a:pPr lvl="1"/>
            <a:r>
              <a:rPr lang="fr-FR" sz="2100" dirty="0"/>
              <a:t>le nom et prénom du directeur de recherche, titre ou qualité (à droite, précédé de « sous la direction de ») ;</a:t>
            </a:r>
          </a:p>
          <a:p>
            <a:pPr lvl="1"/>
            <a:r>
              <a:rPr lang="fr-FR" sz="2100" dirty="0"/>
              <a:t>l’année de soutenance (en bas, au milieu suivi éventuellement de la promotion).</a:t>
            </a:r>
          </a:p>
          <a:p>
            <a:endParaRPr lang="fr-FR" dirty="0"/>
          </a:p>
        </p:txBody>
      </p:sp>
    </p:spTree>
    <p:extLst>
      <p:ext uri="{BB962C8B-B14F-4D97-AF65-F5344CB8AC3E}">
        <p14:creationId xmlns:p14="http://schemas.microsoft.com/office/powerpoint/2010/main" xmlns="" val="32830795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a:xfrm>
            <a:off x="1103312" y="2052918"/>
            <a:ext cx="8946541" cy="4496163"/>
          </a:xfrm>
        </p:spPr>
        <p:txBody>
          <a:bodyPr>
            <a:normAutofit/>
          </a:bodyPr>
          <a:lstStyle/>
          <a:p>
            <a:pPr lvl="0"/>
            <a:r>
              <a:rPr lang="fr-FR" dirty="0"/>
              <a:t>la page de garde : c’est une doublure de la page de couverture, donc elle sera constituée des mêmes éléments ;</a:t>
            </a:r>
          </a:p>
          <a:p>
            <a:pPr lvl="0"/>
            <a:r>
              <a:rPr lang="fr-FR" dirty="0"/>
              <a:t>la page In </a:t>
            </a:r>
            <a:r>
              <a:rPr lang="fr-FR" dirty="0" err="1"/>
              <a:t>memorium</a:t>
            </a:r>
            <a:r>
              <a:rPr lang="fr-FR" dirty="0"/>
              <a:t> (A la mémoire de) : cette page est consacrée à tous ceux qui ont contribué à votre réussite, à votre éducation et à votre cursus mais qui ne sont plus là malheureusement ;</a:t>
            </a:r>
          </a:p>
          <a:p>
            <a:pPr lvl="0"/>
            <a:r>
              <a:rPr lang="fr-FR" dirty="0"/>
              <a:t>la page de dédicace : c’est le lieu de rendre hommage, un acte de reconnaissance que l’on voue à une personne que l’on admire,  soit pour ses qualités intellectuelles, morales ou religieuses. La dédicace doit être brève et sobre pour garder son intensité ;</a:t>
            </a:r>
          </a:p>
          <a:p>
            <a:pPr lvl="0"/>
            <a:r>
              <a:rPr lang="fr-FR" dirty="0"/>
              <a:t>la page de remerciements : c’est le lieu de remercier tous ceux qui de loin ou de près ont participé à élaboration du mémoire ;</a:t>
            </a:r>
          </a:p>
          <a:p>
            <a:pPr marL="0" indent="0">
              <a:buNone/>
            </a:pPr>
            <a:endParaRPr lang="fr-FR" dirty="0"/>
          </a:p>
        </p:txBody>
      </p:sp>
    </p:spTree>
    <p:extLst>
      <p:ext uri="{BB962C8B-B14F-4D97-AF65-F5344CB8AC3E}">
        <p14:creationId xmlns:p14="http://schemas.microsoft.com/office/powerpoint/2010/main" xmlns="" val="3410073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p:txBody>
          <a:bodyPr>
            <a:normAutofit fontScale="92500" lnSpcReduction="10000"/>
          </a:bodyPr>
          <a:lstStyle/>
          <a:p>
            <a:pPr lvl="0"/>
            <a:r>
              <a:rPr lang="fr-FR" dirty="0"/>
              <a:t>l’avant-propos : il peut être défini comme une sorte d’avertissement adressé au lecteur (Jury…) dans le but, en général d’éviter de se m’éprendre sur le travail ou d’attirer leur attention sur des points particuliers ;</a:t>
            </a:r>
          </a:p>
          <a:p>
            <a:pPr lvl="0"/>
            <a:r>
              <a:rPr lang="fr-FR" dirty="0"/>
              <a:t>le sommaire : c’est le plan avec ses subdivisons (parties, chapitres) ;</a:t>
            </a:r>
          </a:p>
          <a:p>
            <a:pPr lvl="0"/>
            <a:r>
              <a:rPr lang="fr-FR" dirty="0"/>
              <a:t>le glossaire : c’est la liste alphabétique des termes techniques, des abréviations, des sigles ou des noms de personnes ;</a:t>
            </a:r>
          </a:p>
          <a:p>
            <a:pPr lvl="0"/>
            <a:r>
              <a:rPr lang="fr-FR" dirty="0"/>
              <a:t>la liste des figures ;</a:t>
            </a:r>
          </a:p>
          <a:p>
            <a:pPr lvl="0"/>
            <a:r>
              <a:rPr lang="fr-FR" dirty="0"/>
              <a:t>la liste des tableaux : l’ensemble des tableaux contenus dans le document ;</a:t>
            </a:r>
          </a:p>
          <a:p>
            <a:pPr lvl="0"/>
            <a:r>
              <a:rPr lang="fr-FR" dirty="0"/>
              <a:t>le résumé du document ;</a:t>
            </a:r>
          </a:p>
          <a:p>
            <a:pPr lvl="0"/>
            <a:r>
              <a:rPr lang="fr-FR" dirty="0"/>
              <a:t>Abstract ;</a:t>
            </a:r>
          </a:p>
          <a:p>
            <a:pPr marL="0" indent="0">
              <a:buNone/>
            </a:pPr>
            <a:endParaRPr lang="fr-FR" dirty="0"/>
          </a:p>
        </p:txBody>
      </p:sp>
    </p:spTree>
    <p:extLst>
      <p:ext uri="{BB962C8B-B14F-4D97-AF65-F5344CB8AC3E}">
        <p14:creationId xmlns:p14="http://schemas.microsoft.com/office/powerpoint/2010/main" xmlns="" val="1449427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p:txBody>
          <a:bodyPr>
            <a:normAutofit lnSpcReduction="10000"/>
          </a:bodyPr>
          <a:lstStyle/>
          <a:p>
            <a:pPr lvl="0"/>
            <a:r>
              <a:rPr lang="fr-FR" b="1" dirty="0"/>
              <a:t>Introduction générale </a:t>
            </a:r>
            <a:r>
              <a:rPr lang="fr-FR" dirty="0"/>
              <a:t>: elle énonce les problèmes, les questions soulevées par votre sujet et le situe dans un contexte général. La première qualité d’une introduction est d’intéresser le lecteur par le charme, l’inattendue, la curiosité et la pertinence de vos paroles initiales. N’affirmez jamais dès l’introduction car le problème n’est pas résolu. Il s’agit de le poser et de respecter la loi du suspens. Employez les expressions comme : « il parait que … », « il est paradoxale que … », « il semble que … » et des expressions interrogatives. L’essentiel restera d’indiquer la pertinence de vos résultats, de vos solutions, leur intérêt scientifique et le progrès qu’elles font faire à la compréhension des problèmes abordés. Elle définit brièvement l’objet et les buts du travail présenté, sa relation avec d’autres travaux. Une bonne introduction est constituée de 7 parties essentielles, complémentaires et indispensables :</a:t>
            </a:r>
          </a:p>
        </p:txBody>
      </p:sp>
    </p:spTree>
    <p:extLst>
      <p:ext uri="{BB962C8B-B14F-4D97-AF65-F5344CB8AC3E}">
        <p14:creationId xmlns:p14="http://schemas.microsoft.com/office/powerpoint/2010/main" xmlns="" val="3203364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a:xfrm>
            <a:off x="172995" y="1743999"/>
            <a:ext cx="10886302" cy="4891579"/>
          </a:xfrm>
        </p:spPr>
        <p:txBody>
          <a:bodyPr>
            <a:normAutofit/>
          </a:bodyPr>
          <a:lstStyle/>
          <a:p>
            <a:pPr lvl="0"/>
            <a:r>
              <a:rPr lang="fr-FR" b="1" dirty="0"/>
              <a:t>La contextualisation </a:t>
            </a:r>
            <a:r>
              <a:rPr lang="fr-FR" dirty="0"/>
              <a:t>: ici on commence à esquisser le cadre théorique des phénomènes ou du concept de votre sujet. Il s’agit de revenir sur la situation, les évènements ou les circonstances qui ont généré votre réflexion. C’est en quelque sorte partir du général pour aboutir au particulier.</a:t>
            </a:r>
          </a:p>
          <a:p>
            <a:pPr lvl="0"/>
            <a:r>
              <a:rPr lang="fr-FR" b="1" dirty="0"/>
              <a:t>La problématique</a:t>
            </a:r>
            <a:r>
              <a:rPr lang="fr-FR" dirty="0"/>
              <a:t> : c’est l’ensemble des questions que soulève votre sujet. C’est le lieu d’expliquer, de mettre l’accent sur la question à résoudre en spécifiant la nature et la fonction du problème posé ; il faut aussi esquisser un questionnement ayant un rapport avec la nécessité, les difficultés et les obstacles supposés. (NB : sous forme interrogative de préférence).</a:t>
            </a:r>
          </a:p>
          <a:p>
            <a:pPr lvl="0"/>
            <a:r>
              <a:rPr lang="fr-FR" b="1" dirty="0"/>
              <a:t>Les objectifs de recherche</a:t>
            </a:r>
            <a:r>
              <a:rPr lang="fr-FR" dirty="0"/>
              <a:t>, c'est-à-dire l’objectif général et les objectifs spécifiques.</a:t>
            </a:r>
          </a:p>
          <a:p>
            <a:pPr lvl="0"/>
            <a:r>
              <a:rPr lang="fr-FR" b="1" dirty="0"/>
              <a:t>Les critères de motivation du choix du sujet</a:t>
            </a:r>
            <a:r>
              <a:rPr lang="fr-FR" dirty="0"/>
              <a:t> : comme son nom l’indique ils énumèrent les éléments ou les circonstances qui vous ont poussé à choisir ce sujet ou qui vous ont inspiré à traiter la question ; </a:t>
            </a:r>
          </a:p>
          <a:p>
            <a:endParaRPr lang="fr-FR" dirty="0"/>
          </a:p>
        </p:txBody>
      </p:sp>
    </p:spTree>
    <p:extLst>
      <p:ext uri="{BB962C8B-B14F-4D97-AF65-F5344CB8AC3E}">
        <p14:creationId xmlns:p14="http://schemas.microsoft.com/office/powerpoint/2010/main" xmlns="" val="2643863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a:t>Chapitre 5 : la Présentation du mémoire</a:t>
            </a:r>
            <a:endParaRPr lang="fr-FR"/>
          </a:p>
        </p:txBody>
      </p:sp>
      <p:sp>
        <p:nvSpPr>
          <p:cNvPr id="3" name="Espace réservé du contenu 2"/>
          <p:cNvSpPr>
            <a:spLocks noGrp="1"/>
          </p:cNvSpPr>
          <p:nvPr>
            <p:ph idx="1"/>
          </p:nvPr>
        </p:nvSpPr>
        <p:spPr/>
        <p:txBody>
          <a:bodyPr>
            <a:normAutofit fontScale="92500" lnSpcReduction="10000"/>
          </a:bodyPr>
          <a:lstStyle/>
          <a:p>
            <a:pPr lvl="0"/>
            <a:r>
              <a:rPr lang="fr-FR" b="1" dirty="0"/>
              <a:t>Les hypothèses de travail </a:t>
            </a:r>
            <a:r>
              <a:rPr lang="fr-FR" dirty="0"/>
              <a:t>: ce sont les suppositions sur le raisonnement attendu à la fin de votre travail. Ce sont des éléments qui seront annoncés dans l’introduction puis démontrés dans le développement ;</a:t>
            </a:r>
          </a:p>
          <a:p>
            <a:pPr lvl="0"/>
            <a:r>
              <a:rPr lang="fr-FR" b="1" dirty="0"/>
              <a:t>L’approche méthodologique</a:t>
            </a:r>
            <a:r>
              <a:rPr lang="fr-FR" dirty="0"/>
              <a:t> : c’est le lieu de dire les outils, les moyens qui vous ont permis de mener vos recherches et d’élaborer le mémoire (séjour en entreprise, recherche documentaire, questionnaire, guide d’entretien) ;</a:t>
            </a:r>
          </a:p>
          <a:p>
            <a:pPr lvl="0"/>
            <a:r>
              <a:rPr lang="fr-FR" b="1" dirty="0"/>
              <a:t>Annonce du plan : </a:t>
            </a:r>
            <a:r>
              <a:rPr lang="fr-FR" dirty="0"/>
              <a:t>ce sont les différents points qui seront traités, les différentes parties de votre travail. Comme tout travail intellectuel, la recherche nécessite une articulation qui va se matérialiser par des parties, chapitres, sections et sous sections qui vont se suivre et qui vont proposer des solutions au problème posé. Le plan est donc un cheminement logique de la pensée, l’organisation et l’agencement des idées ;</a:t>
            </a:r>
          </a:p>
          <a:p>
            <a:endParaRPr lang="fr-FR" dirty="0"/>
          </a:p>
        </p:txBody>
      </p:sp>
    </p:spTree>
    <p:extLst>
      <p:ext uri="{BB962C8B-B14F-4D97-AF65-F5344CB8AC3E}">
        <p14:creationId xmlns:p14="http://schemas.microsoft.com/office/powerpoint/2010/main" xmlns="" val="1846680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p:txBody>
          <a:bodyPr/>
          <a:lstStyle/>
          <a:p>
            <a:r>
              <a:rPr lang="fr-FR" b="1" dirty="0"/>
              <a:t>le développement </a:t>
            </a:r>
            <a:r>
              <a:rPr lang="fr-FR" dirty="0"/>
              <a:t>comme son nom l’indique il explique dans les détails les différentes parties annoncées dans le plan. Il faudra tenir compte d’une bonne structuration du texte qui passe par l’utilisation de phrases simples, courtes, de paragraphes bien agencés et d’une transition entre les parties et sous parties. Il faut aussi et surtout respecter les normes conventionnelles de rédaction d’un document académique ; </a:t>
            </a:r>
          </a:p>
          <a:p>
            <a:pPr marL="0" indent="0">
              <a:buNone/>
            </a:pPr>
            <a:endParaRPr lang="fr-FR" dirty="0"/>
          </a:p>
        </p:txBody>
      </p:sp>
    </p:spTree>
    <p:extLst>
      <p:ext uri="{BB962C8B-B14F-4D97-AF65-F5344CB8AC3E}">
        <p14:creationId xmlns:p14="http://schemas.microsoft.com/office/powerpoint/2010/main" xmlns="" val="35540899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a:xfrm>
            <a:off x="766120" y="2052918"/>
            <a:ext cx="9283734" cy="4681514"/>
          </a:xfrm>
        </p:spPr>
        <p:txBody>
          <a:bodyPr>
            <a:normAutofit fontScale="92500" lnSpcReduction="10000"/>
          </a:bodyPr>
          <a:lstStyle/>
          <a:p>
            <a:pPr lvl="0"/>
            <a:r>
              <a:rPr lang="fr-FR" b="1" dirty="0"/>
              <a:t>la conclusion générale </a:t>
            </a:r>
            <a:r>
              <a:rPr lang="fr-FR" dirty="0"/>
              <a:t>: c’est l’ensemble des conclusions partielles des différentes parties du texte. Il faut noter que l’une des principales qualités d’une bonne conclusion est sa concision Elle est composée de 4 points :</a:t>
            </a:r>
          </a:p>
          <a:p>
            <a:pPr lvl="0"/>
            <a:r>
              <a:rPr lang="fr-FR" dirty="0"/>
              <a:t>La récapitulation : c’est-à-dire qu’il faut revenir sur les différentes conclusions partielles de votre texte ;</a:t>
            </a:r>
          </a:p>
          <a:p>
            <a:pPr lvl="0"/>
            <a:r>
              <a:rPr lang="fr-FR" dirty="0"/>
              <a:t>Il faut maintenant répondre clairement à la question soulevée par le sujet et vous devez proposer des solutions concrètes ;</a:t>
            </a:r>
          </a:p>
          <a:p>
            <a:pPr lvl="0"/>
            <a:r>
              <a:rPr lang="fr-FR" dirty="0"/>
              <a:t>Il faut souligner les difficultés rencontrées lors de l’élaboration du mémoire ainsi que les limites de votre analyse ;</a:t>
            </a:r>
          </a:p>
          <a:p>
            <a:pPr lvl="0"/>
            <a:r>
              <a:rPr lang="fr-FR" dirty="0"/>
              <a:t>Ouverture vers de nouvelles pistes de recherches et des perspectives.</a:t>
            </a:r>
          </a:p>
          <a:p>
            <a:r>
              <a:rPr lang="fr-FR" dirty="0"/>
              <a:t>La bibliographie </a:t>
            </a:r>
            <a:r>
              <a:rPr lang="fr-FR" dirty="0" smtClean="0"/>
              <a:t>: </a:t>
            </a:r>
            <a:r>
              <a:rPr lang="fr-FR" dirty="0"/>
              <a:t>il faut entendre par bibliographie la liste alphabétique des auteurs, des ouvrages, </a:t>
            </a:r>
            <a:r>
              <a:rPr lang="fr-FR" dirty="0" err="1" smtClean="0"/>
              <a:t>des,mémoires</a:t>
            </a:r>
            <a:r>
              <a:rPr lang="fr-FR" dirty="0" smtClean="0"/>
              <a:t> </a:t>
            </a:r>
            <a:r>
              <a:rPr lang="fr-FR" dirty="0"/>
              <a:t>et des articles consultés pour l’élaboration du mémoire.</a:t>
            </a:r>
          </a:p>
          <a:p>
            <a:pPr marL="0" indent="0">
              <a:buNone/>
            </a:pPr>
            <a:r>
              <a:rPr lang="fr-FR" dirty="0"/>
              <a:t> </a:t>
            </a:r>
          </a:p>
        </p:txBody>
      </p:sp>
    </p:spTree>
    <p:extLst>
      <p:ext uri="{BB962C8B-B14F-4D97-AF65-F5344CB8AC3E}">
        <p14:creationId xmlns:p14="http://schemas.microsoft.com/office/powerpoint/2010/main" xmlns="" val="3472482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a:xfrm>
            <a:off x="646112" y="2052918"/>
            <a:ext cx="9403742" cy="4471450"/>
          </a:xfrm>
        </p:spPr>
        <p:txBody>
          <a:bodyPr/>
          <a:lstStyle/>
          <a:p>
            <a:r>
              <a:rPr lang="fr-FR" dirty="0"/>
              <a:t>La </a:t>
            </a:r>
            <a:r>
              <a:rPr lang="fr-FR" dirty="0" err="1"/>
              <a:t>wébographie</a:t>
            </a:r>
            <a:r>
              <a:rPr lang="fr-FR" dirty="0"/>
              <a:t> est composée par l’ensemble des sites et des moteurs de recherche visités pour la confection du mémoire ;</a:t>
            </a:r>
          </a:p>
          <a:p>
            <a:pPr lvl="0"/>
            <a:r>
              <a:rPr lang="fr-FR" dirty="0"/>
              <a:t>Les annexes : ce sont des documents séparés présentant trois caractéristiques :</a:t>
            </a:r>
          </a:p>
          <a:p>
            <a:pPr lvl="1"/>
            <a:r>
              <a:rPr lang="fr-FR" dirty="0"/>
              <a:t>Elles complètent le mémoire mais ne peuvent y être insérées sous peine de compromettre la logique interne du texte principal ;</a:t>
            </a:r>
          </a:p>
          <a:p>
            <a:pPr lvl="1"/>
            <a:r>
              <a:rPr lang="fr-FR" dirty="0"/>
              <a:t>  Leurs dimensions ou leurs méthodes de reproduction ne permettent pas de les intégrer  dans le corps du texte ;</a:t>
            </a:r>
          </a:p>
          <a:p>
            <a:pPr lvl="1"/>
            <a:r>
              <a:rPr lang="fr-FR" dirty="0"/>
              <a:t>Elles peuvent être ignorées du grand public mais sont indispensables pour les spécialistes.</a:t>
            </a:r>
          </a:p>
          <a:p>
            <a:endParaRPr lang="fr-FR" dirty="0"/>
          </a:p>
        </p:txBody>
      </p:sp>
    </p:spTree>
    <p:extLst>
      <p:ext uri="{BB962C8B-B14F-4D97-AF65-F5344CB8AC3E}">
        <p14:creationId xmlns:p14="http://schemas.microsoft.com/office/powerpoint/2010/main" xmlns="" val="3709416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p:txBody>
          <a:bodyPr>
            <a:normAutofit/>
          </a:bodyPr>
          <a:lstStyle/>
          <a:p>
            <a:r>
              <a:rPr lang="fr-FR" dirty="0"/>
              <a:t>Leur numérotation se fait, soit suivant des lettres majuscules consécutives, soit en se servant de chiffres romain. Exemple Annexe A, Annexe B, Annexe C ou</a:t>
            </a:r>
          </a:p>
          <a:p>
            <a:r>
              <a:rPr lang="fr-FR" dirty="0"/>
              <a:t>	Annexe I	Annexe II     Annexe III</a:t>
            </a:r>
          </a:p>
          <a:p>
            <a:r>
              <a:rPr lang="fr-FR" dirty="0"/>
              <a:t>Lorsqu’une annexe comprend des subdivisions, celles-ci seront désignées par un numéro en chiffres arabe affecté à la lettre majuscule ou au chiffre romain correspondant à l’annexe principale. Exemple :</a:t>
            </a:r>
          </a:p>
          <a:p>
            <a:pPr lvl="0"/>
            <a:r>
              <a:rPr lang="en-US" dirty="0"/>
              <a:t>A1 ( A2 , A3, …) , B1 ( B2, B3), C1 ( C1, C2, C3)</a:t>
            </a:r>
            <a:endParaRPr lang="fr-FR" dirty="0"/>
          </a:p>
          <a:p>
            <a:pPr lvl="0"/>
            <a:r>
              <a:rPr lang="fr-FR" dirty="0"/>
              <a:t>I1( I2, I3)</a:t>
            </a:r>
          </a:p>
          <a:p>
            <a:pPr marL="0" indent="0">
              <a:buNone/>
            </a:pPr>
            <a:endParaRPr lang="fr-FR" dirty="0"/>
          </a:p>
        </p:txBody>
      </p:sp>
    </p:spTree>
    <p:extLst>
      <p:ext uri="{BB962C8B-B14F-4D97-AF65-F5344CB8AC3E}">
        <p14:creationId xmlns:p14="http://schemas.microsoft.com/office/powerpoint/2010/main" xmlns="" val="42267952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5 : la Présentation du mémoire</a:t>
            </a:r>
            <a:endParaRPr lang="fr-FR" dirty="0"/>
          </a:p>
        </p:txBody>
      </p:sp>
      <p:sp>
        <p:nvSpPr>
          <p:cNvPr id="3" name="Espace réservé du contenu 2"/>
          <p:cNvSpPr>
            <a:spLocks noGrp="1"/>
          </p:cNvSpPr>
          <p:nvPr>
            <p:ph idx="1"/>
          </p:nvPr>
        </p:nvSpPr>
        <p:spPr/>
        <p:txBody>
          <a:bodyPr/>
          <a:lstStyle/>
          <a:p>
            <a:pPr lvl="0"/>
            <a:r>
              <a:rPr lang="fr-FR" dirty="0"/>
              <a:t>La table des matières : c’est la page où l’on décrit les principales subdivisions du document. Il faut numéroter les différentes rubriques. C’est à partir de cette table des matières que le lecteur pourra se faire une idée sur l’ensemble des éléments qui composent votre travail ;</a:t>
            </a:r>
          </a:p>
          <a:p>
            <a:pPr lvl="0"/>
            <a:r>
              <a:rPr lang="fr-FR" dirty="0"/>
              <a:t>L’errata : c’est le lieu de signaler les erreurs après la reliure du document, elle se présente comme suit : </a:t>
            </a:r>
          </a:p>
          <a:p>
            <a:pPr marL="0" lvl="0" indent="0">
              <a:buNone/>
            </a:pPr>
            <a:endParaRPr lang="fr-FR" dirty="0"/>
          </a:p>
        </p:txBody>
      </p:sp>
      <p:graphicFrame>
        <p:nvGraphicFramePr>
          <p:cNvPr id="8" name="Tableau 7"/>
          <p:cNvGraphicFramePr>
            <a:graphicFrameLocks noGrp="1"/>
          </p:cNvGraphicFramePr>
          <p:nvPr>
            <p:extLst>
              <p:ext uri="{D42A27DB-BD31-4B8C-83A1-F6EECF244321}">
                <p14:modId xmlns:p14="http://schemas.microsoft.com/office/powerpoint/2010/main" xmlns="" val="2918730466"/>
              </p:ext>
            </p:extLst>
          </p:nvPr>
        </p:nvGraphicFramePr>
        <p:xfrm>
          <a:off x="2681415" y="4473147"/>
          <a:ext cx="5041557" cy="2331484"/>
        </p:xfrm>
        <a:graphic>
          <a:graphicData uri="http://schemas.openxmlformats.org/drawingml/2006/table">
            <a:tbl>
              <a:tblPr firstRow="1" firstCol="1" bandRow="1">
                <a:tableStyleId>{5C22544A-7EE6-4342-B048-85BDC9FD1C3A}</a:tableStyleId>
              </a:tblPr>
              <a:tblGrid>
                <a:gridCol w="1227023">
                  <a:extLst>
                    <a:ext uri="{9D8B030D-6E8A-4147-A177-3AD203B41FA5}">
                      <a16:colId xmlns:a16="http://schemas.microsoft.com/office/drawing/2014/main" xmlns="" val="4038107106"/>
                    </a:ext>
                  </a:extLst>
                </a:gridCol>
                <a:gridCol w="1068802">
                  <a:extLst>
                    <a:ext uri="{9D8B030D-6E8A-4147-A177-3AD203B41FA5}">
                      <a16:colId xmlns:a16="http://schemas.microsoft.com/office/drawing/2014/main" xmlns="" val="2603398649"/>
                    </a:ext>
                  </a:extLst>
                </a:gridCol>
                <a:gridCol w="1372328">
                  <a:extLst>
                    <a:ext uri="{9D8B030D-6E8A-4147-A177-3AD203B41FA5}">
                      <a16:colId xmlns:a16="http://schemas.microsoft.com/office/drawing/2014/main" xmlns="" val="1762546482"/>
                    </a:ext>
                  </a:extLst>
                </a:gridCol>
                <a:gridCol w="1373404">
                  <a:extLst>
                    <a:ext uri="{9D8B030D-6E8A-4147-A177-3AD203B41FA5}">
                      <a16:colId xmlns:a16="http://schemas.microsoft.com/office/drawing/2014/main" xmlns="" val="4162504178"/>
                    </a:ext>
                  </a:extLst>
                </a:gridCol>
              </a:tblGrid>
              <a:tr h="574556">
                <a:tc>
                  <a:txBody>
                    <a:bodyPr/>
                    <a:lstStyle/>
                    <a:p>
                      <a:pPr algn="just">
                        <a:lnSpc>
                          <a:spcPct val="150000"/>
                        </a:lnSpc>
                        <a:spcAft>
                          <a:spcPts val="800"/>
                        </a:spcAft>
                      </a:pPr>
                      <a:r>
                        <a:rPr lang="fr-FR" sz="1200">
                          <a:effectLst/>
                        </a:rPr>
                        <a:t>Pages</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Lignes</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dirty="0">
                          <a:effectLst/>
                        </a:rPr>
                        <a:t>Au lieu de </a:t>
                      </a:r>
                      <a:endParaRPr lang="fr-F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lire</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19012634"/>
                  </a:ext>
                </a:extLst>
              </a:tr>
              <a:tr h="574697">
                <a:tc>
                  <a:txBody>
                    <a:bodyPr/>
                    <a:lstStyle/>
                    <a:p>
                      <a:pPr algn="just">
                        <a:lnSpc>
                          <a:spcPct val="150000"/>
                        </a:lnSpc>
                        <a:spcAft>
                          <a:spcPts val="800"/>
                        </a:spcAft>
                      </a:pPr>
                      <a:r>
                        <a:rPr lang="fr-FR" sz="1200">
                          <a:effectLst/>
                        </a:rPr>
                        <a:t>5</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12</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èvénement</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événement</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679045402"/>
                  </a:ext>
                </a:extLst>
              </a:tr>
              <a:tr h="303767">
                <a:tc>
                  <a:txBody>
                    <a:bodyPr/>
                    <a:lstStyle/>
                    <a:p>
                      <a:pPr algn="just">
                        <a:lnSpc>
                          <a:spcPct val="150000"/>
                        </a:lnSpc>
                        <a:spcAft>
                          <a:spcPts val="800"/>
                        </a:spcAft>
                      </a:pPr>
                      <a:r>
                        <a:rPr lang="fr-FR" sz="1200">
                          <a:effectLst/>
                        </a:rPr>
                        <a:t>12</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7</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Fall</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Sall</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707040537"/>
                  </a:ext>
                </a:extLst>
              </a:tr>
              <a:tr h="303767">
                <a:tc>
                  <a:txBody>
                    <a:bodyPr/>
                    <a:lstStyle/>
                    <a:p>
                      <a:pPr algn="just">
                        <a:lnSpc>
                          <a:spcPct val="150000"/>
                        </a:lnSpc>
                        <a:spcAft>
                          <a:spcPts val="800"/>
                        </a:spcAft>
                      </a:pPr>
                      <a:r>
                        <a:rPr lang="fr-FR" sz="1200">
                          <a:effectLst/>
                        </a:rPr>
                        <a:t>29</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3</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Mirroir</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Miroir</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984790023"/>
                  </a:ext>
                </a:extLst>
              </a:tr>
              <a:tr h="574697">
                <a:tc>
                  <a:txBody>
                    <a:bodyPr/>
                    <a:lstStyle/>
                    <a:p>
                      <a:pPr algn="just">
                        <a:lnSpc>
                          <a:spcPct val="150000"/>
                        </a:lnSpc>
                        <a:spcAft>
                          <a:spcPts val="800"/>
                        </a:spcAft>
                      </a:pPr>
                      <a:r>
                        <a:rPr lang="fr-FR" sz="1200">
                          <a:effectLst/>
                        </a:rPr>
                        <a:t>50</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9</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a:effectLst/>
                        </a:rPr>
                        <a:t>La mémoire</a:t>
                      </a:r>
                      <a:endParaRPr lang="fr-F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1200" dirty="0">
                          <a:effectLst/>
                        </a:rPr>
                        <a:t>Le mémoire</a:t>
                      </a:r>
                      <a:endParaRPr lang="fr-F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322824065"/>
                  </a:ext>
                </a:extLst>
              </a:tr>
            </a:tbl>
          </a:graphicData>
        </a:graphic>
      </p:graphicFrame>
    </p:spTree>
    <p:extLst>
      <p:ext uri="{BB962C8B-B14F-4D97-AF65-F5344CB8AC3E}">
        <p14:creationId xmlns:p14="http://schemas.microsoft.com/office/powerpoint/2010/main" xmlns="" val="6464396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None/>
            </a:pPr>
            <a:endParaRPr lang="fr-FR" dirty="0"/>
          </a:p>
          <a:p>
            <a:r>
              <a:rPr lang="fr-FR" dirty="0"/>
              <a:t>Vous connaissez maintenant, nous l’espérons avec une précision suffisante toutes les règles de présentation d’un TAU. Vous avez fini de rédiger votre mémoire, vous l’avez déposé dans les délais requis, évitant ainsi la forclusion. Nous allons, dans la dernière partie, vous dispensé quelques conseils vous permettant d’aborder au mieux la soutenance.</a:t>
            </a:r>
          </a:p>
          <a:p>
            <a:endParaRPr lang="fr-FR" dirty="0"/>
          </a:p>
        </p:txBody>
      </p:sp>
    </p:spTree>
    <p:extLst>
      <p:ext uri="{BB962C8B-B14F-4D97-AF65-F5344CB8AC3E}">
        <p14:creationId xmlns:p14="http://schemas.microsoft.com/office/powerpoint/2010/main" xmlns="" val="1110070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6 : la soutenance </a:t>
            </a:r>
            <a:r>
              <a:rPr lang="fr-FR" dirty="0"/>
              <a:t/>
            </a:r>
            <a:br>
              <a:rPr lang="fr-FR" dirty="0"/>
            </a:br>
            <a:endParaRPr lang="fr-FR" dirty="0"/>
          </a:p>
        </p:txBody>
      </p:sp>
      <p:sp>
        <p:nvSpPr>
          <p:cNvPr id="3" name="Espace réservé du contenu 2"/>
          <p:cNvSpPr>
            <a:spLocks noGrp="1"/>
          </p:cNvSpPr>
          <p:nvPr>
            <p:ph idx="1"/>
          </p:nvPr>
        </p:nvSpPr>
        <p:spPr>
          <a:xfrm>
            <a:off x="308920" y="2052918"/>
            <a:ext cx="9740934" cy="4195481"/>
          </a:xfrm>
        </p:spPr>
        <p:txBody>
          <a:bodyPr>
            <a:normAutofit/>
          </a:bodyPr>
          <a:lstStyle/>
          <a:p>
            <a:r>
              <a:rPr lang="fr-FR" dirty="0"/>
              <a:t>Elle  est l’acte final d’un long processus commencé avec le choix du sujet et du directeur de recherche, poursuivi dans une recherche plus ou moins laborieuse et culminant dans l’élaboration et la mise au point définitive du document (saisie, reliure, tirage, correction …). La particularité d’une soutenance est que dans le jugement final du travail interviennent deux appréciations distinctes : l’une porte sur le travail lu par les suffragants (membres du jury), l’autre sur la présentation et la défense orale que le candidat fait devant eux. C’est deux appréciations aboutissent à la détermination d’une note cumulée en fonction de laquelle est attribuée une mention. Dans le système académique la mention est graduée en passable, assez bien, bien, très bien, excellent, honorable, très honorable … Vu l’importance de cette évaluation, il convient alors de savoir comment préparer la soutenance.</a:t>
            </a:r>
          </a:p>
          <a:p>
            <a:pPr marL="0" indent="0">
              <a:buNone/>
            </a:pPr>
            <a:endParaRPr lang="fr-FR" dirty="0"/>
          </a:p>
        </p:txBody>
      </p:sp>
    </p:spTree>
    <p:extLst>
      <p:ext uri="{BB962C8B-B14F-4D97-AF65-F5344CB8AC3E}">
        <p14:creationId xmlns:p14="http://schemas.microsoft.com/office/powerpoint/2010/main" xmlns="" val="1015965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6 : la soutenance </a:t>
            </a:r>
            <a:r>
              <a:rPr lang="fr-FR" dirty="0"/>
              <a:t/>
            </a:r>
            <a:br>
              <a:rPr lang="fr-FR" dirty="0"/>
            </a:br>
            <a:endParaRPr lang="fr-FR" dirty="0"/>
          </a:p>
        </p:txBody>
      </p:sp>
      <p:sp>
        <p:nvSpPr>
          <p:cNvPr id="3" name="Espace réservé du contenu 2"/>
          <p:cNvSpPr>
            <a:spLocks noGrp="1"/>
          </p:cNvSpPr>
          <p:nvPr>
            <p:ph idx="1"/>
          </p:nvPr>
        </p:nvSpPr>
        <p:spPr/>
        <p:txBody>
          <a:bodyPr>
            <a:normAutofit lnSpcReduction="10000"/>
          </a:bodyPr>
          <a:lstStyle/>
          <a:p>
            <a:pPr lvl="0"/>
            <a:r>
              <a:rPr lang="fr-FR" b="1" dirty="0"/>
              <a:t>La préparation de la soutenance </a:t>
            </a:r>
            <a:endParaRPr lang="fr-FR" dirty="0"/>
          </a:p>
          <a:p>
            <a:pPr lvl="1"/>
            <a:r>
              <a:rPr lang="fr-FR" sz="2000" dirty="0"/>
              <a:t> Elle comporte deux aspects différents  Psychologique et intellectuelle. Chacun de ces éléments a une importance capitale pour la réussite de la soutenance.</a:t>
            </a:r>
          </a:p>
          <a:p>
            <a:pPr lvl="1"/>
            <a:r>
              <a:rPr lang="fr-FR" sz="2000" dirty="0"/>
              <a:t>La préparation psychologique : la soutenance est belle et bien un examen. Elle comporte tous les critères techniques de l’examen ; épreuve écrite (mémoire), épreuve orale (exposé du travail, interrogation et test de votre niveau de maitrise du sujet) mais en même temps elle est plus qu’un examen ordinaire. Vous ne devez plus vous considérer comme un étudiant craintif et anxieux mais comme un chercheur professionnel ayant acquis un niveau de compétence académique proche ou comparable à celui de vos suffragants.</a:t>
            </a:r>
          </a:p>
          <a:p>
            <a:pPr marL="0" indent="0">
              <a:buNone/>
            </a:pPr>
            <a:endParaRPr lang="fr-FR" dirty="0"/>
          </a:p>
        </p:txBody>
      </p:sp>
    </p:spTree>
    <p:extLst>
      <p:ext uri="{BB962C8B-B14F-4D97-AF65-F5344CB8AC3E}">
        <p14:creationId xmlns:p14="http://schemas.microsoft.com/office/powerpoint/2010/main" xmlns="" val="33817518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6 : la soutenance </a:t>
            </a:r>
            <a:r>
              <a:rPr lang="fr-FR" dirty="0"/>
              <a:t/>
            </a:r>
            <a:br>
              <a:rPr lang="fr-FR" dirty="0"/>
            </a:br>
            <a:endParaRPr lang="fr-FR" dirty="0"/>
          </a:p>
        </p:txBody>
      </p:sp>
      <p:sp>
        <p:nvSpPr>
          <p:cNvPr id="3" name="Espace réservé du contenu 2"/>
          <p:cNvSpPr>
            <a:spLocks noGrp="1"/>
          </p:cNvSpPr>
          <p:nvPr>
            <p:ph idx="1"/>
          </p:nvPr>
        </p:nvSpPr>
        <p:spPr>
          <a:xfrm>
            <a:off x="646111" y="1496864"/>
            <a:ext cx="8946541" cy="4195481"/>
          </a:xfrm>
        </p:spPr>
        <p:txBody>
          <a:bodyPr>
            <a:normAutofit fontScale="92500" lnSpcReduction="10000"/>
          </a:bodyPr>
          <a:lstStyle/>
          <a:p>
            <a:r>
              <a:rPr lang="fr-FR" dirty="0"/>
              <a:t>Vos longues recherches vous ont donné une très bonne connaissance de votre sujet qui vous permet de vous sentir psychologiquement à l’aise. L’essentiel de votre préparation psychologique consiste dans cette mue qui vous fait passer de la mentalité de l’étudiant à celle du chercheur. Croyez bien que l’institution, l’établissement représenté par les suffragants attendent de vous cet nouvel état d’esprit. </a:t>
            </a:r>
          </a:p>
          <a:p>
            <a:pPr lvl="0"/>
            <a:r>
              <a:rPr lang="fr-FR" dirty="0"/>
              <a:t>La préparation intellectuelle : elle consiste d’abord à lire et à relire votre travail attentivement de manière à bien en maitriser le mouvement d’ensemble et les détails techniques. Une approche approximative des questions lors  des discussions avec le jury, laissera une impression désastreuse. Efforcez-vous ensuite de prendre une certaine distance par rapport à votre propre travail pour essayer d’en déceler les faiblesses et, ainsi, de prévoir les critiques et d’envisager les réponses les plus appropriés.</a:t>
            </a:r>
          </a:p>
          <a:p>
            <a:endParaRPr lang="fr-FR" dirty="0"/>
          </a:p>
        </p:txBody>
      </p:sp>
    </p:spTree>
    <p:extLst>
      <p:ext uri="{BB962C8B-B14F-4D97-AF65-F5344CB8AC3E}">
        <p14:creationId xmlns:p14="http://schemas.microsoft.com/office/powerpoint/2010/main" xmlns="" val="3250864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6 : la soutenance </a:t>
            </a:r>
            <a:r>
              <a:rPr lang="fr-FR" dirty="0"/>
              <a:t/>
            </a:r>
            <a:br>
              <a:rPr lang="fr-FR" dirty="0"/>
            </a:br>
            <a:endParaRPr lang="fr-FR" dirty="0"/>
          </a:p>
        </p:txBody>
      </p:sp>
      <p:sp>
        <p:nvSpPr>
          <p:cNvPr id="3" name="Espace réservé du contenu 2"/>
          <p:cNvSpPr>
            <a:spLocks noGrp="1"/>
          </p:cNvSpPr>
          <p:nvPr>
            <p:ph idx="1"/>
          </p:nvPr>
        </p:nvSpPr>
        <p:spPr/>
        <p:txBody>
          <a:bodyPr/>
          <a:lstStyle/>
          <a:p>
            <a:r>
              <a:rPr lang="fr-FR" dirty="0"/>
              <a:t>En fin il faut essayer de mettre en évidence avec la plus grande précision votre apport personnel sur le problème étudié au regard de l’état où vous l’avez trouvé.</a:t>
            </a:r>
          </a:p>
          <a:p>
            <a:r>
              <a:rPr lang="fr-FR" dirty="0"/>
              <a:t>Pour finaliser l’ensemble de cette préparation intellectuelle élaborer des fiches techniques sur l’ensemble des questions susceptibles d’être abordées. Elles devront inclure un système de renvoie approprié à votre ouvrage. Dans la mesure du possible, exercez-vous à résumer oralement votre travail. Deux jours avant la soutenance, prenez du repos pour éviter tout état dépressif.</a:t>
            </a:r>
          </a:p>
          <a:p>
            <a:pPr marL="0" indent="0">
              <a:buNone/>
            </a:pPr>
            <a:endParaRPr lang="fr-FR" dirty="0"/>
          </a:p>
        </p:txBody>
      </p:sp>
    </p:spTree>
    <p:extLst>
      <p:ext uri="{BB962C8B-B14F-4D97-AF65-F5344CB8AC3E}">
        <p14:creationId xmlns:p14="http://schemas.microsoft.com/office/powerpoint/2010/main" xmlns="" val="2893875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Chapitre 6 : la soutenance </a:t>
            </a:r>
            <a:r>
              <a:rPr lang="fr-FR" dirty="0"/>
              <a:t/>
            </a:r>
            <a:br>
              <a:rPr lang="fr-FR" dirty="0"/>
            </a:br>
            <a:endParaRPr lang="fr-FR" dirty="0"/>
          </a:p>
        </p:txBody>
      </p:sp>
      <p:sp>
        <p:nvSpPr>
          <p:cNvPr id="3" name="Espace réservé du contenu 2"/>
          <p:cNvSpPr>
            <a:spLocks noGrp="1"/>
          </p:cNvSpPr>
          <p:nvPr>
            <p:ph idx="1"/>
          </p:nvPr>
        </p:nvSpPr>
        <p:spPr>
          <a:xfrm>
            <a:off x="271849" y="1643450"/>
            <a:ext cx="10354961" cy="5214550"/>
          </a:xfrm>
        </p:spPr>
        <p:txBody>
          <a:bodyPr>
            <a:normAutofit fontScale="92500" lnSpcReduction="20000"/>
          </a:bodyPr>
          <a:lstStyle/>
          <a:p>
            <a:pPr lvl="0"/>
            <a:r>
              <a:rPr lang="fr-FR" sz="2400" b="1" dirty="0"/>
              <a:t>Le déroulement de la soutenance </a:t>
            </a:r>
            <a:endParaRPr lang="fr-FR" sz="2400" dirty="0"/>
          </a:p>
          <a:p>
            <a:pPr lvl="1"/>
            <a:r>
              <a:rPr lang="fr-FR" sz="1900" dirty="0"/>
              <a:t>Le grand moment tant à attendu est arrivé il est empreint de solennité. Les suffragants, l’air grave, le regard dur et sévère arrivent. Levez-vous !  </a:t>
            </a:r>
          </a:p>
          <a:p>
            <a:pPr lvl="1"/>
            <a:r>
              <a:rPr lang="fr-FR" sz="1900" dirty="0"/>
              <a:t>Le président demande à la salle de se rassoir. Tout dans l’atmosphère rappelle le tribunal,  rester détendu et surtout ne vous demandez pas ce que vos professeurs pensent de votre travail. Ne pensez qu’à ce que vous allez leur dire bientôt. </a:t>
            </a:r>
          </a:p>
          <a:p>
            <a:pPr lvl="1"/>
            <a:r>
              <a:rPr lang="fr-FR" sz="1900" dirty="0"/>
              <a:t>Le président prend votre travail le feuillète négligemment et s’adresse à vous. Il vous dira d’une voix posée et grave à peu près cela : « M., Mlle  Mme X  vous avez préparé un mémoire pour l’obtention de la licence professionnelle en … intitulé sujet…. Le jury, composé de M. les professeurs …. Et de moi-même vous accorde une quinzaine de minutes  pour exposer les principales positions et conclusions de votre travail et évoquer les conditions dans lesquelles vous l’avez accompli ensuite, naturellement nous discuterons de certains aspects de votre travail et vous poserons quelques questions auxquelles nous souhaitons que vous apportiez des réponses parfaitement claires. A vous M., Mme x. »</a:t>
            </a:r>
          </a:p>
          <a:p>
            <a:pPr lvl="1"/>
            <a:r>
              <a:rPr lang="fr-FR" sz="1900" dirty="0"/>
              <a:t>Ce président de jury est expérimenté et habile. Il vous a indiqué :</a:t>
            </a:r>
          </a:p>
          <a:p>
            <a:pPr lvl="1"/>
            <a:r>
              <a:rPr lang="fr-FR" sz="1900" dirty="0"/>
              <a:t>Le temps qui vous est alloué (une quinzaine de minutes) ;</a:t>
            </a:r>
          </a:p>
          <a:p>
            <a:pPr lvl="1"/>
            <a:r>
              <a:rPr lang="fr-FR" sz="1900" dirty="0"/>
              <a:t>Ce qu’on attend de vous.</a:t>
            </a:r>
          </a:p>
          <a:p>
            <a:endParaRPr lang="fr-FR" dirty="0"/>
          </a:p>
        </p:txBody>
      </p:sp>
    </p:spTree>
    <p:extLst>
      <p:ext uri="{BB962C8B-B14F-4D97-AF65-F5344CB8AC3E}">
        <p14:creationId xmlns:p14="http://schemas.microsoft.com/office/powerpoint/2010/main" xmlns="" val="22350860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a:t>Chapitre 6 : la soutenance</a:t>
            </a:r>
            <a:endParaRPr lang="fr-FR" dirty="0"/>
          </a:p>
        </p:txBody>
      </p:sp>
      <p:sp>
        <p:nvSpPr>
          <p:cNvPr id="3" name="Espace réservé du contenu 2"/>
          <p:cNvSpPr>
            <a:spLocks noGrp="1"/>
          </p:cNvSpPr>
          <p:nvPr>
            <p:ph idx="1"/>
          </p:nvPr>
        </p:nvSpPr>
        <p:spPr/>
        <p:txBody>
          <a:bodyPr>
            <a:normAutofit fontScale="92500" lnSpcReduction="10000"/>
          </a:bodyPr>
          <a:lstStyle/>
          <a:p>
            <a:r>
              <a:rPr lang="fr-FR" dirty="0"/>
              <a:t>	Vous devrez en effet exposer les principales positions et conclusions de votre travail et évoquer les conditions dans lesquelles vous avez travaillé. </a:t>
            </a:r>
          </a:p>
          <a:p>
            <a:r>
              <a:rPr lang="fr-FR" dirty="0"/>
              <a:t>S’agissant du premier point, mettez en évidence votre originalité et votre apport à la recherche.</a:t>
            </a:r>
          </a:p>
          <a:p>
            <a:r>
              <a:rPr lang="fr-FR" dirty="0"/>
              <a:t> Sur le deuxième point indiquez surtout les difficultés que vous avez rencontrées, la manière dont vous les avez surmontées, les hésitations vécues, les choix méthodologiques effectués, leurs justifications et, éventuellement, leurs limites.</a:t>
            </a:r>
          </a:p>
          <a:p>
            <a:r>
              <a:rPr lang="fr-FR" dirty="0"/>
              <a:t>Pour terminer, indiquez nettement les nouvelles perspectives qu’ouvre votre travail puis remerciez sobrement les suffragants et ceux qui vous tiennent à cœur, avant de dire votre disponibilité à tirer parti des lumières des éminents savants qui vous ont fait l’honneur d’accepter de participer à votre jury.</a:t>
            </a:r>
          </a:p>
          <a:p>
            <a:pPr marL="0" indent="0">
              <a:buNone/>
            </a:pPr>
            <a:endParaRPr lang="fr-FR" dirty="0"/>
          </a:p>
        </p:txBody>
      </p:sp>
    </p:spTree>
    <p:extLst>
      <p:ext uri="{BB962C8B-B14F-4D97-AF65-F5344CB8AC3E}">
        <p14:creationId xmlns:p14="http://schemas.microsoft.com/office/powerpoint/2010/main" xmlns="" val="32783480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Chapitre 6 : la soutenance</a:t>
            </a:r>
            <a:endParaRPr lang="fr-FR" dirty="0"/>
          </a:p>
        </p:txBody>
      </p:sp>
      <p:sp>
        <p:nvSpPr>
          <p:cNvPr id="3" name="Espace réservé du contenu 2"/>
          <p:cNvSpPr>
            <a:spLocks noGrp="1"/>
          </p:cNvSpPr>
          <p:nvPr>
            <p:ph idx="1"/>
          </p:nvPr>
        </p:nvSpPr>
        <p:spPr/>
        <p:txBody>
          <a:bodyPr>
            <a:normAutofit/>
          </a:bodyPr>
          <a:lstStyle/>
          <a:p>
            <a:r>
              <a:rPr lang="fr-FR" dirty="0"/>
              <a:t>Les questions vont alors fuser  des suffragants qui vont discuter avec vous. Rien n’échappera à leur vigilance : les fautes d’accent, de syntaxe, les omissions bibliographiques…</a:t>
            </a:r>
          </a:p>
          <a:p>
            <a:r>
              <a:rPr lang="fr-FR" dirty="0"/>
              <a:t>Prenez note de toutes les critiques. N’hésitez pas à reconnaitre les critiques qui vous paraissent parfaitement fondées et engagez vous à en tenir compte lors de la mise à jour de votre travail. Examiner attentivement celles qui vous paraissent ou bien insuffisamment fondées, ou bien résolues par votre travail. Montrez alors votre bonne connaissance du sujet et argumentez sans céder à la polémique. Sachez parfois montrer votre humour. Ainsi la soutenance prendra-t-elle peu à peu l’allure moins tragique bientôt le jury va se retirer pour  délibérer. </a:t>
            </a:r>
          </a:p>
          <a:p>
            <a:pPr marL="0" indent="0">
              <a:buNone/>
            </a:pPr>
            <a:endParaRPr lang="fr-FR" dirty="0"/>
          </a:p>
        </p:txBody>
      </p:sp>
    </p:spTree>
    <p:extLst>
      <p:ext uri="{BB962C8B-B14F-4D97-AF65-F5344CB8AC3E}">
        <p14:creationId xmlns:p14="http://schemas.microsoft.com/office/powerpoint/2010/main" xmlns="" val="27015547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Conclusion</a:t>
            </a:r>
            <a:r>
              <a:rPr lang="fr-FR" dirty="0"/>
              <a:t/>
            </a:r>
            <a:br>
              <a:rPr lang="fr-FR" dirty="0"/>
            </a:br>
            <a:endParaRPr lang="fr-FR" dirty="0"/>
          </a:p>
        </p:txBody>
      </p:sp>
      <p:sp>
        <p:nvSpPr>
          <p:cNvPr id="3" name="Espace réservé du contenu 2"/>
          <p:cNvSpPr>
            <a:spLocks noGrp="1"/>
          </p:cNvSpPr>
          <p:nvPr>
            <p:ph idx="1"/>
          </p:nvPr>
        </p:nvSpPr>
        <p:spPr/>
        <p:txBody>
          <a:bodyPr/>
          <a:lstStyle/>
          <a:p>
            <a:r>
              <a:rPr lang="fr-FR" sz="2400" dirty="0"/>
              <a:t>Au terme de ces délibérations, vous serez fixé sur votre sort. Quel qu’il soit, vous l’aurez préparé vous-même grâce à ce guide qui avait comme objectif de vous préparer à vous faire le meilleur sort possible : celui de l’excellence. </a:t>
            </a:r>
          </a:p>
          <a:p>
            <a:endParaRPr lang="fr-FR" dirty="0"/>
          </a:p>
        </p:txBody>
      </p:sp>
    </p:spTree>
    <p:extLst>
      <p:ext uri="{BB962C8B-B14F-4D97-AF65-F5344CB8AC3E}">
        <p14:creationId xmlns:p14="http://schemas.microsoft.com/office/powerpoint/2010/main" xmlns="" val="2330140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30316" y="2854411"/>
            <a:ext cx="9404723" cy="1569043"/>
          </a:xfrm>
        </p:spPr>
        <p:txBody>
          <a:bodyPr/>
          <a:lstStyle/>
          <a:p>
            <a:pPr algn="ctr"/>
            <a:r>
              <a:rPr lang="fr-FR" sz="5400" dirty="0" smtClean="0"/>
              <a:t>Merci pour votre attention</a:t>
            </a:r>
            <a:endParaRPr lang="fr-FR" sz="5400" dirty="0"/>
          </a:p>
        </p:txBody>
      </p:sp>
    </p:spTree>
    <p:extLst>
      <p:ext uri="{BB962C8B-B14F-4D97-AF65-F5344CB8AC3E}">
        <p14:creationId xmlns:p14="http://schemas.microsoft.com/office/powerpoint/2010/main" xmlns="" val="2333290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180</TotalTime>
  <Words>2529</Words>
  <Application>Microsoft Office PowerPoint</Application>
  <PresentationFormat>Personnalisé</PresentationFormat>
  <Paragraphs>314</Paragraphs>
  <Slides>56</Slides>
  <Notes>0</Notes>
  <HiddenSlides>0</HiddenSlides>
  <MMClips>0</MMClips>
  <ScaleCrop>false</ScaleCrop>
  <HeadingPairs>
    <vt:vector size="4" baseType="variant">
      <vt:variant>
        <vt:lpstr>Thème</vt:lpstr>
      </vt:variant>
      <vt:variant>
        <vt:i4>1</vt:i4>
      </vt:variant>
      <vt:variant>
        <vt:lpstr>Titres des diapositives</vt:lpstr>
      </vt:variant>
      <vt:variant>
        <vt:i4>56</vt:i4>
      </vt:variant>
    </vt:vector>
  </HeadingPairs>
  <TitlesOfParts>
    <vt:vector size="57" baseType="lpstr">
      <vt:lpstr>Ion</vt:lpstr>
      <vt:lpstr> Guide de rédaction et de présentation d’un document académique</vt:lpstr>
      <vt:lpstr> SOMMAIRE</vt:lpstr>
      <vt:lpstr>Introduction </vt:lpstr>
      <vt:lpstr>Première partie : la définition du mémoire, le choix d’un directeur de recherche, d’un sujet et d’un plan </vt:lpstr>
      <vt:lpstr>Chapitre 1: Le choix d’un directeur de recherche  </vt:lpstr>
      <vt:lpstr>Chapitre 1: Le choix d’un directeur de recherche</vt:lpstr>
      <vt:lpstr>Chapitre 1: Le choix d’un directeur de recherche</vt:lpstr>
      <vt:lpstr>Chapitre 1: Le choix d’un directeur de recherche</vt:lpstr>
      <vt:lpstr>Chapitre 2 Le choix d’un sujet et d’un plan</vt:lpstr>
      <vt:lpstr>Chapitre 2 Le choix d’un sujet et d’un plan</vt:lpstr>
      <vt:lpstr>Chapitre 2 Le choix d’un sujet et d’un plan</vt:lpstr>
      <vt:lpstr>Chapitre 2 Le choix d’un sujet et d’un plan</vt:lpstr>
      <vt:lpstr>Diapositive 13</vt:lpstr>
      <vt:lpstr>Diapositive 14</vt:lpstr>
      <vt:lpstr>Plan d’un mémoire : </vt:lpstr>
      <vt:lpstr>Plan d’un mémoire :</vt:lpstr>
      <vt:lpstr>Introduction  </vt:lpstr>
      <vt:lpstr>Partie I : Cadre méthodologique et théorique </vt:lpstr>
      <vt:lpstr>Partie I : Cadre méthodologique et théorique</vt:lpstr>
      <vt:lpstr>Partie II : CADRE ANALYTIQUE </vt:lpstr>
      <vt:lpstr>Partie II : CADRE ANALYTIQUE</vt:lpstr>
      <vt:lpstr>Diapositive 22</vt:lpstr>
      <vt:lpstr>Deuxième partie : la stratégie de recherche et les outils d’élaboration du mémoire </vt:lpstr>
      <vt:lpstr> Chapitre 3 : La stratégie de recherche  </vt:lpstr>
      <vt:lpstr>La phase d’observation : </vt:lpstr>
      <vt:lpstr>La phase d’exploitation ou de dépouillement </vt:lpstr>
      <vt:lpstr>La phase de rédaction  </vt:lpstr>
      <vt:lpstr>La phase de rédaction</vt:lpstr>
      <vt:lpstr>La phase de rédaction</vt:lpstr>
      <vt:lpstr>RAPPEL Comment élaborer un paragraphe ? </vt:lpstr>
      <vt:lpstr>Chapitre 4 : les outils d’élaboration du mémoire  </vt:lpstr>
      <vt:lpstr>Chapitre 4 : les outils d’élaboration du mémoire</vt:lpstr>
      <vt:lpstr>Principes de notation et de classement des références bibliographiques : </vt:lpstr>
      <vt:lpstr>Principes de notation et de classement des références bibliographiques :</vt:lpstr>
      <vt:lpstr>Troisième partie : la présentation et la soutenance du mémoire   </vt:lpstr>
      <vt:lpstr>Chapitre 5 : la Présentation du mémoire </vt:lpstr>
      <vt:lpstr>Chapitre 5 : la Présentation du mémoire</vt:lpstr>
      <vt:lpstr>Chapitre 5 : la Présentation du mémoire</vt:lpstr>
      <vt:lpstr>Chapitre 5 : la Présentation du mémoire</vt:lpstr>
      <vt:lpstr>Chapitre 5 : la Présentation du mémoire</vt:lpstr>
      <vt:lpstr>Chapitre 5 : la Présentation du mémoire</vt:lpstr>
      <vt:lpstr>Chapitre 5 : la Présentation du mémoire</vt:lpstr>
      <vt:lpstr>Chapitre 5 : la Présentation du mémoire</vt:lpstr>
      <vt:lpstr>Chapitre 5 : la Présentation du mémoire</vt:lpstr>
      <vt:lpstr>Chapitre 5 : la Présentation du mémoire</vt:lpstr>
      <vt:lpstr>Chapitre 5 : la Présentation du mémoire</vt:lpstr>
      <vt:lpstr>Diapositive 47</vt:lpstr>
      <vt:lpstr>Chapitre 6 : la soutenance  </vt:lpstr>
      <vt:lpstr>Chapitre 6 : la soutenance  </vt:lpstr>
      <vt:lpstr>Chapitre 6 : la soutenance  </vt:lpstr>
      <vt:lpstr>Chapitre 6 : la soutenance  </vt:lpstr>
      <vt:lpstr>Chapitre 6 : la soutenance  </vt:lpstr>
      <vt:lpstr>Chapitre 6 : la soutenance</vt:lpstr>
      <vt:lpstr>Chapitre 6 : la soutenance</vt:lpstr>
      <vt:lpstr>Conclusion </vt:lpstr>
      <vt:lpstr>Merci pour votre attention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de rédaction et de présentation d’un document académique</dc:title>
  <dc:creator>Alassane KANTE</dc:creator>
  <cp:lastModifiedBy>ACER</cp:lastModifiedBy>
  <cp:revision>19</cp:revision>
  <dcterms:created xsi:type="dcterms:W3CDTF">2016-12-21T16:45:11Z</dcterms:created>
  <dcterms:modified xsi:type="dcterms:W3CDTF">2016-12-22T15:51:02Z</dcterms:modified>
</cp:coreProperties>
</file>